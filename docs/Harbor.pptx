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61" r:id="rId4"/>
    <p:sldId id="259" r:id="rId5"/>
    <p:sldId id="262" r:id="rId6"/>
    <p:sldId id="263" r:id="rId7"/>
    <p:sldId id="264"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0" d="100"/>
          <a:sy n="60" d="100"/>
        </p:scale>
        <p:origin x="92" y="1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5949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Harbor reads hurricane forecasts for your ZIP code and gets your evacuation money ready days before the storm arrives.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scale. 60 million people live in Atlantic and Gulf coastal counties, the areas most exposed to hurricanes. Apply national numbers to that population: about 37 percent can't cover a 400 dollar emergency with cash, roughly 22 million people, and 24 percent say they couldn't afford to leave home for a few days, roughly 14 million people. In 2022 alone, 3.3 million adults were displaced by disasters, more than half by hurricanes, and nearly 1 million of them in Florida after Ian and Nicole. Make it human: during Milton, one couple found hotel rooms outside the storm's path at close to 1,000 dollars a night, ended up in a tent outside Pensacola, and still spent nearly 2,500 dollars. Sources: US Census 2019 and Household Pulse Survey 2022, Federal Reserve SHED 2025, YouGov October 2024, Grist 2024.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segments with three different jobs. Ready: 63 percent can cover a 400 dollar emergency with cash; Harbor makes sure it's reachable in time. Stretched: 37 percent can't, so Harbor builds a Storm Fund from round ups during hurricane season and moves bill dates out of the evacuation window. Can't leave: 24 percent say they couldn't afford to evacuate at all, which is the next slide. Sources: Federal Reserve SHED 2025, YouGov poll of 2,379 US adults, October 8, 2024.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Harbor watches the hurricane forecast for your ZIP code, prepares the cash by sizing your evacuation budget and putting it in reach with one tap, and returns everything after the all clear. The customer never has to remember to open an 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people with nothing to move, Harbor works on information and timing. It signs them up for free county evacuation buses before registration closes; Sarasota's buses take pets but registration closes 60 hours before landfall. Thirty percent of Floridians who wouldn't evacuate cite their pets, so Harbor routes to pet friendly and special needs shelters. Relatives can send money instantly to a family fund. After the storm, Harbor drafts FEMA's Serious Needs Assistance, a one time 790 dollar payment for disasters declared since October 2025. Sources: Sarasota County via WGCU, AAA Florida survey 2022, FEMA Federal Register notice 2025.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real alternatives. FEMA aid and credit cards help after the storm, and you do the work: applications, or debt. Parametric insurance pays automatically, but only after the event. Bank storm tips and savings apps come before, but rely on the customer to act. Harbor is the only one in the top right: before landfall, and automatic once approved.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at one dollar per customer per month, paid by bank partners, never by customers. Total: 60 million residents of Atlantic and Gulf coastal counties, 720 million dollars a year. Serviceable: 3.3 million adults displaced by disasters in a year, about 40 million dollars. Obtainable: one bank partner with a million coastal customers, 12 million dollars. These dollar figures are our estimates.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D2A"/>
        </a:solidFill>
        <a:effectLst/>
      </p:bgPr>
    </p:bg>
    <p:spTree>
      <p:nvGrpSpPr>
        <p:cNvPr id="1" name=""/>
        <p:cNvGrpSpPr/>
        <p:nvPr/>
      </p:nvGrpSpPr>
      <p:grpSpPr>
        <a:xfrm>
          <a:off x="0" y="0"/>
          <a:ext cx="0" cy="0"/>
          <a:chOff x="0" y="0"/>
          <a:chExt cx="0" cy="0"/>
        </a:xfrm>
      </p:grpSpPr>
      <p:pic>
        <p:nvPicPr>
          <p:cNvPr id="2" name="Image 0" descr="../in/x/ppt/media/image-1-2.png"/>
          <p:cNvPicPr>
            <a:picLocks noChangeAspect="1"/>
          </p:cNvPicPr>
          <p:nvPr/>
        </p:nvPicPr>
        <p:blipFill>
          <a:blip r:embed="rId2"/>
          <a:stretch>
            <a:fillRect/>
          </a:stretch>
        </p:blipFill>
        <p:spPr>
          <a:xfrm>
            <a:off x="548640" y="384048"/>
            <a:ext cx="237744" cy="237744"/>
          </a:xfrm>
          <a:prstGeom prst="rect">
            <a:avLst/>
          </a:prstGeom>
        </p:spPr>
      </p:pic>
      <p:sp>
        <p:nvSpPr>
          <p:cNvPr id="3" name="Text 0"/>
          <p:cNvSpPr/>
          <p:nvPr/>
        </p:nvSpPr>
        <p:spPr>
          <a:xfrm>
            <a:off x="859536" y="365760"/>
            <a:ext cx="1371600" cy="274320"/>
          </a:xfrm>
          <a:prstGeom prst="rect">
            <a:avLst/>
          </a:prstGeom>
          <a:noFill/>
          <a:ln/>
        </p:spPr>
        <p:txBody>
          <a:bodyPr wrap="square" lIns="0" tIns="0" rIns="0" bIns="0" rtlCol="0" anchor="ctr"/>
          <a:lstStyle/>
          <a:p>
            <a:pPr marL="0" indent="0">
              <a:buNone/>
            </a:pPr>
            <a:r>
              <a:rPr lang="en-US" sz="1300" dirty="0">
                <a:solidFill>
                  <a:srgbClr val="EFEBE3"/>
                </a:solidFill>
                <a:latin typeface="Calibri" pitchFamily="34" charset="0"/>
                <a:ea typeface="Calibri" pitchFamily="34" charset="-122"/>
                <a:cs typeface="Calibri" pitchFamily="34" charset="-120"/>
              </a:rPr>
              <a:t>harbor</a:t>
            </a:r>
            <a:endParaRPr lang="en-US" sz="1300" dirty="0"/>
          </a:p>
        </p:txBody>
      </p:sp>
      <p:sp>
        <p:nvSpPr>
          <p:cNvPr id="4" name="Text 1"/>
          <p:cNvSpPr>
            <a:spLocks noGrp="1"/>
          </p:cNvSpPr>
          <p:nvPr>
            <p:ph type="title" idx="102" hasCustomPrompt="1"/>
          </p:nvPr>
        </p:nvSpPr>
        <p:spPr>
          <a:xfrm>
            <a:off x="548640" y="868680"/>
            <a:ext cx="11094415" cy="914400"/>
          </a:xfrm>
          <a:prstGeom prst="rect">
            <a:avLst/>
          </a:prstGeom>
          <a:noFill/>
          <a:ln/>
        </p:spPr>
        <p:txBody>
          <a:bodyPr wrap="square" rtlCol="0"/>
          <a:lstStyle>
            <a:lvl1pPr marL="0" indent="0" algn="l">
              <a:buNone/>
              <a:defRPr lang="en-US" sz="4000" dirty="0">
                <a:solidFill>
                  <a:srgbClr val="EFEBE3"/>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EFEBE3"/>
        </a:solidFill>
        <a:effectLst/>
      </p:bgPr>
    </p:bg>
    <p:spTree>
      <p:nvGrpSpPr>
        <p:cNvPr id="1" name=""/>
        <p:cNvGrpSpPr/>
        <p:nvPr/>
      </p:nvGrpSpPr>
      <p:grpSpPr>
        <a:xfrm>
          <a:off x="0" y="0"/>
          <a:ext cx="0" cy="0"/>
          <a:chOff x="0" y="0"/>
          <a:chExt cx="0" cy="0"/>
        </a:xfrm>
      </p:grpSpPr>
      <p:pic>
        <p:nvPicPr>
          <p:cNvPr id="2" name="Image 0" descr="../in/x/ppt/media/image-2-2.png"/>
          <p:cNvPicPr>
            <a:picLocks noChangeAspect="1"/>
          </p:cNvPicPr>
          <p:nvPr/>
        </p:nvPicPr>
        <p:blipFill>
          <a:blip r:embed="rId2"/>
          <a:stretch>
            <a:fillRect/>
          </a:stretch>
        </p:blipFill>
        <p:spPr>
          <a:xfrm>
            <a:off x="548640" y="384048"/>
            <a:ext cx="237744" cy="237744"/>
          </a:xfrm>
          <a:prstGeom prst="rect">
            <a:avLst/>
          </a:prstGeom>
        </p:spPr>
      </p:pic>
      <p:sp>
        <p:nvSpPr>
          <p:cNvPr id="3" name="Text 0"/>
          <p:cNvSpPr/>
          <p:nvPr/>
        </p:nvSpPr>
        <p:spPr>
          <a:xfrm>
            <a:off x="859536" y="365760"/>
            <a:ext cx="1371600" cy="274320"/>
          </a:xfrm>
          <a:prstGeom prst="rect">
            <a:avLst/>
          </a:prstGeom>
          <a:noFill/>
          <a:ln/>
        </p:spPr>
        <p:txBody>
          <a:bodyPr wrap="square" lIns="0" tIns="0" rIns="0" bIns="0" rtlCol="0" anchor="ctr"/>
          <a:lstStyle/>
          <a:p>
            <a:pPr marL="0" indent="0">
              <a:buNone/>
            </a:pPr>
            <a:r>
              <a:rPr lang="en-US" sz="1300" dirty="0">
                <a:solidFill>
                  <a:srgbClr val="0B1D2A"/>
                </a:solidFill>
                <a:latin typeface="Calibri" pitchFamily="34" charset="0"/>
                <a:ea typeface="Calibri" pitchFamily="34" charset="-122"/>
                <a:cs typeface="Calibri" pitchFamily="34" charset="-120"/>
              </a:rPr>
              <a:t>harbor</a:t>
            </a:r>
            <a:endParaRPr lang="en-US" sz="1300" dirty="0"/>
          </a:p>
        </p:txBody>
      </p:sp>
      <p:sp>
        <p:nvSpPr>
          <p:cNvPr id="4" name="Text 1"/>
          <p:cNvSpPr>
            <a:spLocks noGrp="1"/>
          </p:cNvSpPr>
          <p:nvPr>
            <p:ph type="title" idx="102" hasCustomPrompt="1"/>
          </p:nvPr>
        </p:nvSpPr>
        <p:spPr>
          <a:xfrm>
            <a:off x="548640" y="868680"/>
            <a:ext cx="11094415" cy="914400"/>
          </a:xfrm>
          <a:prstGeom prst="rect">
            <a:avLst/>
          </a:prstGeom>
          <a:noFill/>
          <a:ln/>
        </p:spPr>
        <p:txBody>
          <a:bodyPr wrap="square" rtlCol="0"/>
          <a:lstStyle>
            <a:lvl1pPr marL="0" indent="0" algn="l">
              <a:buNone/>
              <a:defRPr lang="en-US" sz="4000" dirty="0">
                <a:solidFill>
                  <a:srgbClr val="0B1D2A"/>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HOTO">
    <p:bg>
      <p:bgPr>
        <a:solidFill>
          <a:srgbClr val="0B1D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11094415" cy="914400"/>
          </a:xfrm>
          <a:prstGeom prst="rect">
            <a:avLst/>
          </a:prstGeom>
          <a:noFill/>
          <a:ln/>
        </p:spPr>
        <p:txBody>
          <a:bodyPr wrap="square" rtlCol="0"/>
          <a:lstStyle>
            <a:lvl1pPr marL="0" indent="0" algn="l">
              <a:buNone/>
              <a:defRPr lang="en-US" sz="4000" dirty="0">
                <a:solidFill>
                  <a:srgbClr val="EFEBE3"/>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0B1D2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urricane Milton seen from the International Space Station"/>
          <p:cNvPicPr>
            <a:picLocks noChangeAspect="1"/>
          </p:cNvPicPr>
          <p:nvPr/>
        </p:nvPicPr>
        <p:blipFill>
          <a:blip r:embed="rId3"/>
          <a:srcRect/>
          <a:stretch/>
        </p:blipFill>
        <p:spPr>
          <a:xfrm>
            <a:off x="5120640" y="0"/>
            <a:ext cx="7071055" cy="6858000"/>
          </a:xfrm>
          <a:prstGeom prst="rect">
            <a:avLst/>
          </a:prstGeom>
        </p:spPr>
      </p:pic>
      <p:pic>
        <p:nvPicPr>
          <p:cNvPr id="3" name="Image 1" descr="Harbor logo"/>
          <p:cNvPicPr>
            <a:picLocks noChangeAspect="1"/>
          </p:cNvPicPr>
          <p:nvPr/>
        </p:nvPicPr>
        <p:blipFill>
          <a:blip r:embed="rId4"/>
          <a:stretch>
            <a:fillRect/>
          </a:stretch>
        </p:blipFill>
        <p:spPr>
          <a:xfrm>
            <a:off x="731520" y="2514600"/>
            <a:ext cx="822960" cy="822960"/>
          </a:xfrm>
          <a:prstGeom prst="rect">
            <a:avLst/>
          </a:prstGeom>
        </p:spPr>
      </p:pic>
      <p:sp>
        <p:nvSpPr>
          <p:cNvPr id="4" name="Text 0"/>
          <p:cNvSpPr txBox="1"/>
          <p:nvPr/>
        </p:nvSpPr>
        <p:spPr>
          <a:xfrm>
            <a:off x="1691640" y="2377440"/>
            <a:ext cx="3291840" cy="1097280"/>
          </a:xfrm>
          <a:prstGeom prst="rect">
            <a:avLst/>
          </a:prstGeom>
          <a:noFill/>
          <a:ln/>
        </p:spPr>
        <p:txBody>
          <a:bodyPr wrap="square" lIns="0" tIns="0" rIns="0" bIns="0" rtlCol="0" anchor="ctr"/>
          <a:lstStyle/>
          <a:p>
            <a:pPr marL="0" indent="0">
              <a:buNone/>
            </a:pPr>
            <a:r>
              <a:rPr lang="en-US" sz="6000" dirty="0">
                <a:solidFill>
                  <a:srgbClr val="EFEBE3"/>
                </a:solidFill>
                <a:latin typeface="Cambria" pitchFamily="34" charset="0"/>
                <a:ea typeface="Cambria" pitchFamily="34" charset="-122"/>
                <a:cs typeface="Cambria" pitchFamily="34" charset="-120"/>
              </a:rPr>
              <a:t>harbor</a:t>
            </a:r>
            <a:endParaRPr lang="en-US" sz="6000" dirty="0"/>
          </a:p>
        </p:txBody>
      </p:sp>
      <p:sp>
        <p:nvSpPr>
          <p:cNvPr id="5" name="Text 1"/>
          <p:cNvSpPr txBox="1"/>
          <p:nvPr/>
        </p:nvSpPr>
        <p:spPr>
          <a:xfrm>
            <a:off x="731520" y="3657600"/>
            <a:ext cx="4114800" cy="822960"/>
          </a:xfrm>
          <a:prstGeom prst="rect">
            <a:avLst/>
          </a:prstGeom>
          <a:noFill/>
          <a:ln/>
        </p:spPr>
        <p:txBody>
          <a:bodyPr wrap="square" lIns="0" tIns="0" rIns="0" bIns="0" rtlCol="0" anchor="t"/>
          <a:lstStyle/>
          <a:p>
            <a:pPr marL="0" indent="0">
              <a:buNone/>
            </a:pPr>
            <a:r>
              <a:rPr lang="en-US" sz="2200" dirty="0">
                <a:solidFill>
                  <a:srgbClr val="EFEBE3"/>
                </a:solidFill>
                <a:latin typeface="Calibri" pitchFamily="34" charset="0"/>
                <a:ea typeface="Calibri" pitchFamily="34" charset="-122"/>
                <a:cs typeface="Calibri" pitchFamily="34" charset="-120"/>
              </a:rPr>
              <a:t>Evacuation cash, ready before landfall.</a:t>
            </a:r>
            <a:endParaRPr lang="en-US" sz="2200" dirty="0"/>
          </a:p>
        </p:txBody>
      </p:sp>
      <p:sp>
        <p:nvSpPr>
          <p:cNvPr id="6" name="Text 2"/>
          <p:cNvSpPr txBox="1"/>
          <p:nvPr/>
        </p:nvSpPr>
        <p:spPr>
          <a:xfrm>
            <a:off x="731520" y="6035040"/>
            <a:ext cx="4114800" cy="274320"/>
          </a:xfrm>
          <a:prstGeom prst="rect">
            <a:avLst/>
          </a:prstGeom>
          <a:noFill/>
          <a:ln/>
        </p:spPr>
        <p:txBody>
          <a:bodyPr wrap="square" lIns="0" tIns="0" rIns="0" bIns="0" rtlCol="0" anchor="ctr"/>
          <a:lstStyle/>
          <a:p>
            <a:pPr marL="0" indent="0">
              <a:buNone/>
            </a:pPr>
            <a:r>
              <a:rPr lang="en-US" sz="1200" dirty="0">
                <a:solidFill>
                  <a:srgbClr val="A9B8C4"/>
                </a:solidFill>
                <a:latin typeface="Calibri" pitchFamily="34" charset="0"/>
                <a:ea typeface="Calibri" pitchFamily="34" charset="-122"/>
                <a:cs typeface="Calibri" pitchFamily="34" charset="-120"/>
              </a:rPr>
              <a:t>Technica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Florida at night, seen from the International Space Station"/>
          <p:cNvPicPr>
            <a:picLocks noChangeAspect="1"/>
          </p:cNvPicPr>
          <p:nvPr/>
        </p:nvPicPr>
        <p:blipFill>
          <a:blip r:embed="rId3"/>
          <a:srcRect/>
          <a:stretch/>
        </p:blipFill>
        <p:spPr>
          <a:xfrm>
            <a:off x="8092440" y="0"/>
            <a:ext cx="4099255" cy="6858000"/>
          </a:xfrm>
          <a:prstGeom prst="rect">
            <a:avLst/>
          </a:prstGeom>
        </p:spPr>
      </p:pic>
      <p:sp>
        <p:nvSpPr>
          <p:cNvPr id="3" name="Text 1"/>
          <p:cNvSpPr>
            <a:spLocks noGrp="1"/>
          </p:cNvSpPr>
          <p:nvPr>
            <p:ph type="title" idx="102" hasCustomPrompt="1"/>
          </p:nvPr>
        </p:nvSpPr>
        <p:spPr>
          <a:xfrm>
            <a:off x="548640" y="868680"/>
            <a:ext cx="11094415" cy="914400"/>
          </a:xfrm>
          <a:prstGeom prst="rect">
            <a:avLst/>
          </a:prstGeom>
          <a:noFill/>
          <a:ln/>
        </p:spPr>
        <p:txBody>
          <a:bodyPr wrap="square" lIns="0" tIns="0" rIns="0" bIns="0" rtlCol="0" anchor="t"/>
          <a:lstStyle/>
          <a:p>
            <a:pPr marL="0" indent="0" algn="l">
              <a:buNone/>
            </a:pPr>
            <a:r>
              <a:rPr lang="en-US" sz="4000" dirty="0">
                <a:solidFill>
                  <a:srgbClr val="EFEBE3"/>
                </a:solidFill>
                <a:latin typeface="Cambria" pitchFamily="34" charset="0"/>
                <a:ea typeface="Cambria" pitchFamily="34" charset="-122"/>
                <a:cs typeface="Cambria" pitchFamily="34" charset="-120"/>
              </a:rPr>
              <a:t>How many people </a:t>
            </a:r>
            <a:r>
              <a:rPr lang="en-US" sz="4000" i="1" dirty="0">
                <a:solidFill>
                  <a:srgbClr val="FF5B2E"/>
                </a:solidFill>
                <a:latin typeface="Cambria" pitchFamily="34" charset="0"/>
                <a:ea typeface="Cambria" pitchFamily="34" charset="-122"/>
                <a:cs typeface="Cambria" pitchFamily="34" charset="-120"/>
              </a:rPr>
              <a:t>we can help.</a:t>
            </a:r>
            <a:endParaRPr lang="en-US" sz="4000" dirty="0"/>
          </a:p>
        </p:txBody>
      </p:sp>
      <p:sp>
        <p:nvSpPr>
          <p:cNvPr id="4" name="Text 1"/>
          <p:cNvSpPr txBox="1"/>
          <p:nvPr/>
        </p:nvSpPr>
        <p:spPr>
          <a:xfrm>
            <a:off x="548640" y="2011680"/>
            <a:ext cx="1828800" cy="640080"/>
          </a:xfrm>
          <a:prstGeom prst="rect">
            <a:avLst/>
          </a:prstGeom>
          <a:noFill/>
          <a:ln/>
        </p:spPr>
        <p:txBody>
          <a:bodyPr wrap="square" lIns="0" tIns="0" rIns="0" bIns="0" rtlCol="0" anchor="t"/>
          <a:lstStyle/>
          <a:p>
            <a:pPr marL="0" indent="0">
              <a:buNone/>
            </a:pPr>
            <a:r>
              <a:rPr lang="en-US" sz="4000" dirty="0">
                <a:solidFill>
                  <a:srgbClr val="EFEBE3"/>
                </a:solidFill>
                <a:latin typeface="Cambria" pitchFamily="34" charset="0"/>
                <a:ea typeface="Cambria" pitchFamily="34" charset="-122"/>
                <a:cs typeface="Cambria" pitchFamily="34" charset="-120"/>
              </a:rPr>
              <a:t>60M</a:t>
            </a:r>
            <a:endParaRPr lang="en-US" sz="4000" dirty="0"/>
          </a:p>
        </p:txBody>
      </p:sp>
      <p:sp>
        <p:nvSpPr>
          <p:cNvPr id="5" name="Shape 2"/>
          <p:cNvSpPr/>
          <p:nvPr/>
        </p:nvSpPr>
        <p:spPr>
          <a:xfrm>
            <a:off x="2514600" y="2167128"/>
            <a:ext cx="4937760" cy="182880"/>
          </a:xfrm>
          <a:prstGeom prst="rect">
            <a:avLst/>
          </a:prstGeom>
          <a:solidFill>
            <a:srgbClr val="1B3142"/>
          </a:solidFill>
          <a:ln/>
        </p:spPr>
        <p:txBody>
          <a:bodyPr/>
          <a:lstStyle/>
          <a:p>
            <a:endParaRPr lang="en-US"/>
          </a:p>
        </p:txBody>
      </p:sp>
      <p:sp>
        <p:nvSpPr>
          <p:cNvPr id="6" name="Shape 3"/>
          <p:cNvSpPr/>
          <p:nvPr/>
        </p:nvSpPr>
        <p:spPr>
          <a:xfrm>
            <a:off x="2514600" y="2167128"/>
            <a:ext cx="4937760" cy="182880"/>
          </a:xfrm>
          <a:prstGeom prst="rect">
            <a:avLst/>
          </a:prstGeom>
          <a:solidFill>
            <a:srgbClr val="A9B8C4"/>
          </a:solidFill>
          <a:ln/>
        </p:spPr>
        <p:txBody>
          <a:bodyPr/>
          <a:lstStyle/>
          <a:p>
            <a:endParaRPr lang="en-US"/>
          </a:p>
        </p:txBody>
      </p:sp>
      <p:sp>
        <p:nvSpPr>
          <p:cNvPr id="7" name="Text 4"/>
          <p:cNvSpPr txBox="1"/>
          <p:nvPr/>
        </p:nvSpPr>
        <p:spPr>
          <a:xfrm>
            <a:off x="2514600" y="2441448"/>
            <a:ext cx="4937760" cy="457200"/>
          </a:xfrm>
          <a:prstGeom prst="rect">
            <a:avLst/>
          </a:prstGeom>
          <a:noFill/>
          <a:ln/>
        </p:spPr>
        <p:txBody>
          <a:bodyPr wrap="square" lIns="0" tIns="0" rIns="0" bIns="0" rtlCol="0" anchor="t"/>
          <a:lstStyle/>
          <a:p>
            <a:pPr marL="0" indent="0">
              <a:buNone/>
            </a:pPr>
            <a:r>
              <a:rPr lang="en-US" sz="1500" dirty="0">
                <a:solidFill>
                  <a:srgbClr val="A9B8C4"/>
                </a:solidFill>
                <a:latin typeface="Calibri" pitchFamily="34" charset="0"/>
                <a:ea typeface="Calibri" pitchFamily="34" charset="-122"/>
                <a:cs typeface="Calibri" pitchFamily="34" charset="-120"/>
              </a:rPr>
              <a:t>live in Atlantic and Gulf coastal counties</a:t>
            </a:r>
            <a:endParaRPr lang="en-US" sz="1500" dirty="0"/>
          </a:p>
        </p:txBody>
      </p:sp>
      <p:sp>
        <p:nvSpPr>
          <p:cNvPr id="8" name="Text 5"/>
          <p:cNvSpPr txBox="1"/>
          <p:nvPr/>
        </p:nvSpPr>
        <p:spPr>
          <a:xfrm>
            <a:off x="548640" y="2999232"/>
            <a:ext cx="1828800" cy="640080"/>
          </a:xfrm>
          <a:prstGeom prst="rect">
            <a:avLst/>
          </a:prstGeom>
          <a:noFill/>
          <a:ln/>
        </p:spPr>
        <p:txBody>
          <a:bodyPr wrap="square" lIns="0" tIns="0" rIns="0" bIns="0" rtlCol="0" anchor="t"/>
          <a:lstStyle/>
          <a:p>
            <a:pPr marL="0" indent="0">
              <a:buNone/>
            </a:pPr>
            <a:r>
              <a:rPr lang="en-US" sz="4000" dirty="0">
                <a:solidFill>
                  <a:srgbClr val="EFEBE3"/>
                </a:solidFill>
                <a:latin typeface="Cambria" pitchFamily="34" charset="0"/>
                <a:ea typeface="Cambria" pitchFamily="34" charset="-122"/>
                <a:cs typeface="Cambria" pitchFamily="34" charset="-120"/>
              </a:rPr>
              <a:t>22M</a:t>
            </a:r>
            <a:endParaRPr lang="en-US" sz="4000" dirty="0"/>
          </a:p>
        </p:txBody>
      </p:sp>
      <p:sp>
        <p:nvSpPr>
          <p:cNvPr id="9" name="Shape 6"/>
          <p:cNvSpPr/>
          <p:nvPr/>
        </p:nvSpPr>
        <p:spPr>
          <a:xfrm>
            <a:off x="2514600" y="3154680"/>
            <a:ext cx="4937760" cy="182880"/>
          </a:xfrm>
          <a:prstGeom prst="rect">
            <a:avLst/>
          </a:prstGeom>
          <a:solidFill>
            <a:srgbClr val="1B3142"/>
          </a:solidFill>
          <a:ln/>
        </p:spPr>
        <p:txBody>
          <a:bodyPr/>
          <a:lstStyle/>
          <a:p>
            <a:endParaRPr lang="en-US"/>
          </a:p>
        </p:txBody>
      </p:sp>
      <p:sp>
        <p:nvSpPr>
          <p:cNvPr id="10" name="Shape 7"/>
          <p:cNvSpPr/>
          <p:nvPr/>
        </p:nvSpPr>
        <p:spPr>
          <a:xfrm>
            <a:off x="2514600" y="3154680"/>
            <a:ext cx="1826971" cy="182880"/>
          </a:xfrm>
          <a:prstGeom prst="rect">
            <a:avLst/>
          </a:prstGeom>
          <a:solidFill>
            <a:srgbClr val="A9B8C4"/>
          </a:solidFill>
          <a:ln/>
        </p:spPr>
        <p:txBody>
          <a:bodyPr/>
          <a:lstStyle/>
          <a:p>
            <a:endParaRPr lang="en-US"/>
          </a:p>
        </p:txBody>
      </p:sp>
      <p:sp>
        <p:nvSpPr>
          <p:cNvPr id="11" name="Text 8"/>
          <p:cNvSpPr txBox="1"/>
          <p:nvPr/>
        </p:nvSpPr>
        <p:spPr>
          <a:xfrm>
            <a:off x="2514600" y="3429000"/>
            <a:ext cx="4937760" cy="457200"/>
          </a:xfrm>
          <a:prstGeom prst="rect">
            <a:avLst/>
          </a:prstGeom>
          <a:noFill/>
          <a:ln/>
        </p:spPr>
        <p:txBody>
          <a:bodyPr wrap="square" lIns="0" tIns="0" rIns="0" bIns="0" rtlCol="0" anchor="t"/>
          <a:lstStyle/>
          <a:p>
            <a:pPr marL="0" indent="0">
              <a:buNone/>
            </a:pPr>
            <a:r>
              <a:rPr lang="en-US" sz="1500" dirty="0">
                <a:solidFill>
                  <a:srgbClr val="A9B8C4"/>
                </a:solidFill>
                <a:latin typeface="Calibri" pitchFamily="34" charset="0"/>
                <a:ea typeface="Calibri" pitchFamily="34" charset="-122"/>
                <a:cs typeface="Calibri" pitchFamily="34" charset="-120"/>
              </a:rPr>
              <a:t>can't cover a $400 emergency with cash</a:t>
            </a:r>
            <a:endParaRPr lang="en-US" sz="1500" dirty="0"/>
          </a:p>
        </p:txBody>
      </p:sp>
      <p:sp>
        <p:nvSpPr>
          <p:cNvPr id="12" name="Text 9"/>
          <p:cNvSpPr txBox="1"/>
          <p:nvPr/>
        </p:nvSpPr>
        <p:spPr>
          <a:xfrm>
            <a:off x="548640" y="3986784"/>
            <a:ext cx="1828800" cy="640080"/>
          </a:xfrm>
          <a:prstGeom prst="rect">
            <a:avLst/>
          </a:prstGeom>
          <a:noFill/>
          <a:ln/>
        </p:spPr>
        <p:txBody>
          <a:bodyPr wrap="square" lIns="0" tIns="0" rIns="0" bIns="0" rtlCol="0" anchor="t"/>
          <a:lstStyle/>
          <a:p>
            <a:pPr marL="0" indent="0">
              <a:buNone/>
            </a:pPr>
            <a:r>
              <a:rPr lang="en-US" sz="4000" dirty="0">
                <a:solidFill>
                  <a:srgbClr val="FF5B2E"/>
                </a:solidFill>
                <a:latin typeface="Cambria" pitchFamily="34" charset="0"/>
                <a:ea typeface="Cambria" pitchFamily="34" charset="-122"/>
                <a:cs typeface="Cambria" pitchFamily="34" charset="-120"/>
              </a:rPr>
              <a:t>14M</a:t>
            </a:r>
            <a:endParaRPr lang="en-US" sz="4000" dirty="0"/>
          </a:p>
        </p:txBody>
      </p:sp>
      <p:sp>
        <p:nvSpPr>
          <p:cNvPr id="13" name="Shape 10"/>
          <p:cNvSpPr/>
          <p:nvPr/>
        </p:nvSpPr>
        <p:spPr>
          <a:xfrm>
            <a:off x="2514600" y="4142232"/>
            <a:ext cx="4937760" cy="182880"/>
          </a:xfrm>
          <a:prstGeom prst="rect">
            <a:avLst/>
          </a:prstGeom>
          <a:solidFill>
            <a:srgbClr val="1B3142"/>
          </a:solidFill>
          <a:ln/>
        </p:spPr>
        <p:txBody>
          <a:bodyPr/>
          <a:lstStyle/>
          <a:p>
            <a:endParaRPr lang="en-US"/>
          </a:p>
        </p:txBody>
      </p:sp>
      <p:sp>
        <p:nvSpPr>
          <p:cNvPr id="14" name="Shape 11"/>
          <p:cNvSpPr/>
          <p:nvPr/>
        </p:nvSpPr>
        <p:spPr>
          <a:xfrm>
            <a:off x="2514600" y="4142232"/>
            <a:ext cx="1185062" cy="182880"/>
          </a:xfrm>
          <a:prstGeom prst="rect">
            <a:avLst/>
          </a:prstGeom>
          <a:solidFill>
            <a:srgbClr val="FF5B2E"/>
          </a:solidFill>
          <a:ln/>
        </p:spPr>
        <p:txBody>
          <a:bodyPr/>
          <a:lstStyle/>
          <a:p>
            <a:endParaRPr lang="en-US"/>
          </a:p>
        </p:txBody>
      </p:sp>
      <p:sp>
        <p:nvSpPr>
          <p:cNvPr id="15" name="Text 12"/>
          <p:cNvSpPr txBox="1"/>
          <p:nvPr/>
        </p:nvSpPr>
        <p:spPr>
          <a:xfrm>
            <a:off x="2514600" y="4416552"/>
            <a:ext cx="4937760" cy="457200"/>
          </a:xfrm>
          <a:prstGeom prst="rect">
            <a:avLst/>
          </a:prstGeom>
          <a:noFill/>
          <a:ln/>
        </p:spPr>
        <p:txBody>
          <a:bodyPr wrap="square" lIns="0" tIns="0" rIns="0" bIns="0" rtlCol="0" anchor="t"/>
          <a:lstStyle/>
          <a:p>
            <a:pPr marL="0" indent="0">
              <a:buNone/>
            </a:pPr>
            <a:r>
              <a:rPr lang="en-US" sz="1500" dirty="0">
                <a:solidFill>
                  <a:srgbClr val="EFEBE3"/>
                </a:solidFill>
                <a:latin typeface="Calibri" pitchFamily="34" charset="0"/>
                <a:ea typeface="Calibri" pitchFamily="34" charset="-122"/>
                <a:cs typeface="Calibri" pitchFamily="34" charset="-120"/>
              </a:rPr>
              <a:t>say they can't afford to evacuate</a:t>
            </a:r>
            <a:endParaRPr lang="en-US" sz="1500" dirty="0"/>
          </a:p>
        </p:txBody>
      </p:sp>
      <p:sp>
        <p:nvSpPr>
          <p:cNvPr id="16" name="Text 13"/>
          <p:cNvSpPr txBox="1"/>
          <p:nvPr/>
        </p:nvSpPr>
        <p:spPr>
          <a:xfrm>
            <a:off x="548640" y="4974336"/>
            <a:ext cx="1828800" cy="640080"/>
          </a:xfrm>
          <a:prstGeom prst="rect">
            <a:avLst/>
          </a:prstGeom>
          <a:noFill/>
          <a:ln/>
        </p:spPr>
        <p:txBody>
          <a:bodyPr wrap="square" lIns="0" tIns="0" rIns="0" bIns="0" rtlCol="0" anchor="t"/>
          <a:lstStyle/>
          <a:p>
            <a:pPr marL="0" indent="0">
              <a:buNone/>
            </a:pPr>
            <a:r>
              <a:rPr lang="en-US" sz="4000" dirty="0">
                <a:solidFill>
                  <a:srgbClr val="EFEBE3"/>
                </a:solidFill>
                <a:latin typeface="Cambria" pitchFamily="34" charset="0"/>
                <a:ea typeface="Cambria" pitchFamily="34" charset="-122"/>
                <a:cs typeface="Cambria" pitchFamily="34" charset="-120"/>
              </a:rPr>
              <a:t>3.3M</a:t>
            </a:r>
            <a:endParaRPr lang="en-US" sz="4000" dirty="0"/>
          </a:p>
        </p:txBody>
      </p:sp>
      <p:sp>
        <p:nvSpPr>
          <p:cNvPr id="17" name="Shape 14"/>
          <p:cNvSpPr/>
          <p:nvPr/>
        </p:nvSpPr>
        <p:spPr>
          <a:xfrm>
            <a:off x="2514600" y="5129784"/>
            <a:ext cx="4937760" cy="182880"/>
          </a:xfrm>
          <a:prstGeom prst="rect">
            <a:avLst/>
          </a:prstGeom>
          <a:solidFill>
            <a:srgbClr val="1B3142"/>
          </a:solidFill>
          <a:ln/>
        </p:spPr>
        <p:txBody>
          <a:bodyPr/>
          <a:lstStyle/>
          <a:p>
            <a:endParaRPr lang="en-US"/>
          </a:p>
        </p:txBody>
      </p:sp>
      <p:sp>
        <p:nvSpPr>
          <p:cNvPr id="18" name="Shape 15"/>
          <p:cNvSpPr/>
          <p:nvPr/>
        </p:nvSpPr>
        <p:spPr>
          <a:xfrm>
            <a:off x="2514600" y="5129784"/>
            <a:ext cx="271577" cy="182880"/>
          </a:xfrm>
          <a:prstGeom prst="rect">
            <a:avLst/>
          </a:prstGeom>
          <a:solidFill>
            <a:srgbClr val="A9B8C4"/>
          </a:solidFill>
          <a:ln/>
        </p:spPr>
        <p:txBody>
          <a:bodyPr/>
          <a:lstStyle/>
          <a:p>
            <a:endParaRPr lang="en-US"/>
          </a:p>
        </p:txBody>
      </p:sp>
      <p:sp>
        <p:nvSpPr>
          <p:cNvPr id="19" name="Text 16"/>
          <p:cNvSpPr txBox="1"/>
          <p:nvPr/>
        </p:nvSpPr>
        <p:spPr>
          <a:xfrm>
            <a:off x="2514600" y="5404104"/>
            <a:ext cx="4937760" cy="457200"/>
          </a:xfrm>
          <a:prstGeom prst="rect">
            <a:avLst/>
          </a:prstGeom>
          <a:noFill/>
          <a:ln/>
        </p:spPr>
        <p:txBody>
          <a:bodyPr wrap="square" lIns="0" tIns="0" rIns="0" bIns="0" rtlCol="0" anchor="t"/>
          <a:lstStyle/>
          <a:p>
            <a:pPr marL="0" indent="0">
              <a:buNone/>
            </a:pPr>
            <a:r>
              <a:rPr lang="en-US" sz="1500" dirty="0">
                <a:solidFill>
                  <a:srgbClr val="A9B8C4"/>
                </a:solidFill>
                <a:latin typeface="Calibri" pitchFamily="34" charset="0"/>
                <a:ea typeface="Calibri" pitchFamily="34" charset="-122"/>
                <a:cs typeface="Calibri" pitchFamily="34" charset="-120"/>
              </a:rPr>
              <a:t>adults displaced in one year, over half by hurricanes</a:t>
            </a:r>
            <a:endParaRPr lang="en-US" sz="1500" dirty="0"/>
          </a:p>
        </p:txBody>
      </p:sp>
      <p:sp>
        <p:nvSpPr>
          <p:cNvPr id="20" name="Text 17"/>
          <p:cNvSpPr txBox="1"/>
          <p:nvPr/>
        </p:nvSpPr>
        <p:spPr>
          <a:xfrm>
            <a:off x="548640" y="6035040"/>
            <a:ext cx="7223760" cy="502920"/>
          </a:xfrm>
          <a:prstGeom prst="rect">
            <a:avLst/>
          </a:prstGeom>
          <a:noFill/>
          <a:ln/>
        </p:spPr>
        <p:txBody>
          <a:bodyPr wrap="square" lIns="0" tIns="0" rIns="0" bIns="0" rtlCol="0" anchor="t"/>
          <a:lstStyle/>
          <a:p>
            <a:pPr marL="0" indent="0">
              <a:buNone/>
            </a:pPr>
            <a:r>
              <a:rPr lang="en-US" sz="1000" dirty="0">
                <a:solidFill>
                  <a:srgbClr val="A9B8C4"/>
                </a:solidFill>
                <a:latin typeface="Calibri" pitchFamily="34" charset="0"/>
                <a:ea typeface="Calibri" pitchFamily="34" charset="-122"/>
                <a:cs typeface="Calibri" pitchFamily="34" charset="-120"/>
              </a:rPr>
              <a:t>22M and 14M apply national rates to coastal residents.</a:t>
            </a:r>
            <a:endParaRPr lang="en-US" sz="1000" dirty="0"/>
          </a:p>
          <a:p>
            <a:pPr marL="0" indent="0">
              <a:buNone/>
            </a:pPr>
            <a:r>
              <a:rPr lang="en-US" sz="1000" dirty="0">
                <a:solidFill>
                  <a:srgbClr val="A9B8C4"/>
                </a:solidFill>
                <a:latin typeface="Calibri" pitchFamily="34" charset="0"/>
                <a:ea typeface="Calibri" pitchFamily="34" charset="-122"/>
                <a:cs typeface="Calibri" pitchFamily="34" charset="-120"/>
              </a:rPr>
              <a:t>Sources: US Census 2017, Household Pulse 2022 · Federal Reserve SHED 2025 · YouGov, Oct 2024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868680"/>
            <a:ext cx="11094415" cy="914400"/>
          </a:xfrm>
          <a:prstGeom prst="rect">
            <a:avLst/>
          </a:prstGeom>
          <a:noFill/>
          <a:ln/>
        </p:spPr>
        <p:txBody>
          <a:bodyPr wrap="square" lIns="0" tIns="0" rIns="0" bIns="0" rtlCol="0" anchor="t"/>
          <a:lstStyle/>
          <a:p>
            <a:pPr marL="0" indent="0" algn="l">
              <a:buNone/>
            </a:pPr>
            <a:r>
              <a:rPr lang="en-US" sz="4000" dirty="0">
                <a:solidFill>
                  <a:srgbClr val="0B1D2A"/>
                </a:solidFill>
                <a:latin typeface="Cambria" pitchFamily="34" charset="0"/>
                <a:ea typeface="Cambria" pitchFamily="34" charset="-122"/>
                <a:cs typeface="Cambria" pitchFamily="34" charset="-120"/>
              </a:rPr>
              <a:t>Built for </a:t>
            </a:r>
            <a:r>
              <a:rPr lang="en-US" sz="4000" i="1" dirty="0">
                <a:solidFill>
                  <a:srgbClr val="FF5B2E"/>
                </a:solidFill>
                <a:latin typeface="Cambria" pitchFamily="34" charset="0"/>
                <a:ea typeface="Cambria" pitchFamily="34" charset="-122"/>
                <a:cs typeface="Cambria" pitchFamily="34" charset="-120"/>
              </a:rPr>
              <a:t>every household.</a:t>
            </a:r>
            <a:endParaRPr lang="en-US" sz="4000" dirty="0"/>
          </a:p>
        </p:txBody>
      </p:sp>
      <p:sp>
        <p:nvSpPr>
          <p:cNvPr id="3" name="Shape 1"/>
          <p:cNvSpPr/>
          <p:nvPr/>
        </p:nvSpPr>
        <p:spPr>
          <a:xfrm>
            <a:off x="548640" y="2286000"/>
            <a:ext cx="3383280" cy="0"/>
          </a:xfrm>
          <a:prstGeom prst="line">
            <a:avLst/>
          </a:prstGeom>
          <a:noFill/>
          <a:ln w="12700">
            <a:solidFill>
              <a:srgbClr val="0B1D2A"/>
            </a:solidFill>
            <a:prstDash val="solid"/>
          </a:ln>
        </p:spPr>
        <p:txBody>
          <a:bodyPr/>
          <a:lstStyle/>
          <a:p>
            <a:endParaRPr lang="en-US"/>
          </a:p>
        </p:txBody>
      </p:sp>
      <p:sp>
        <p:nvSpPr>
          <p:cNvPr id="4" name="Text 2"/>
          <p:cNvSpPr txBox="1"/>
          <p:nvPr/>
        </p:nvSpPr>
        <p:spPr>
          <a:xfrm>
            <a:off x="548640" y="2468880"/>
            <a:ext cx="3383280" cy="1280160"/>
          </a:xfrm>
          <a:prstGeom prst="rect">
            <a:avLst/>
          </a:prstGeom>
          <a:noFill/>
          <a:ln/>
        </p:spPr>
        <p:txBody>
          <a:bodyPr wrap="square" lIns="0" tIns="0" rIns="0" bIns="0" rtlCol="0" anchor="t"/>
          <a:lstStyle/>
          <a:p>
            <a:pPr marL="0" indent="0">
              <a:buNone/>
            </a:pPr>
            <a:r>
              <a:rPr lang="en-US" sz="8800" dirty="0">
                <a:solidFill>
                  <a:srgbClr val="0B1D2A"/>
                </a:solidFill>
                <a:latin typeface="Cambria" pitchFamily="34" charset="0"/>
                <a:ea typeface="Cambria" pitchFamily="34" charset="-122"/>
                <a:cs typeface="Cambria" pitchFamily="34" charset="-120"/>
              </a:rPr>
              <a:t>63%</a:t>
            </a:r>
            <a:endParaRPr lang="en-US" sz="8800" dirty="0"/>
          </a:p>
        </p:txBody>
      </p:sp>
      <p:sp>
        <p:nvSpPr>
          <p:cNvPr id="5" name="Text 3"/>
          <p:cNvSpPr txBox="1"/>
          <p:nvPr/>
        </p:nvSpPr>
        <p:spPr>
          <a:xfrm>
            <a:off x="548640" y="3886200"/>
            <a:ext cx="3383280" cy="365760"/>
          </a:xfrm>
          <a:prstGeom prst="rect">
            <a:avLst/>
          </a:prstGeom>
          <a:noFill/>
          <a:ln/>
        </p:spPr>
        <p:txBody>
          <a:bodyPr wrap="square" lIns="0" tIns="0" rIns="0" bIns="0" rtlCol="0" anchor="t"/>
          <a:lstStyle/>
          <a:p>
            <a:pPr marL="0" indent="0">
              <a:buNone/>
            </a:pPr>
            <a:r>
              <a:rPr lang="en-US" sz="1800" b="1" dirty="0">
                <a:solidFill>
                  <a:srgbClr val="0B1D2A"/>
                </a:solidFill>
                <a:latin typeface="Calibri" pitchFamily="34" charset="0"/>
                <a:ea typeface="Calibri" pitchFamily="34" charset="-122"/>
                <a:cs typeface="Calibri" pitchFamily="34" charset="-120"/>
              </a:rPr>
              <a:t>Ready</a:t>
            </a:r>
            <a:endParaRPr lang="en-US" sz="1800" dirty="0"/>
          </a:p>
        </p:txBody>
      </p:sp>
      <p:sp>
        <p:nvSpPr>
          <p:cNvPr id="6" name="Text 4"/>
          <p:cNvSpPr txBox="1"/>
          <p:nvPr/>
        </p:nvSpPr>
        <p:spPr>
          <a:xfrm>
            <a:off x="548640" y="4297680"/>
            <a:ext cx="3383280" cy="822960"/>
          </a:xfrm>
          <a:prstGeom prst="rect">
            <a:avLst/>
          </a:prstGeom>
          <a:noFill/>
          <a:ln/>
        </p:spPr>
        <p:txBody>
          <a:bodyPr wrap="square" lIns="0" tIns="0" rIns="0" bIns="0" rtlCol="0" anchor="t"/>
          <a:lstStyle/>
          <a:p>
            <a:pPr marL="0" indent="0">
              <a:buNone/>
            </a:pPr>
            <a:r>
              <a:rPr lang="en-US" sz="1500" dirty="0">
                <a:solidFill>
                  <a:srgbClr val="4B5A66"/>
                </a:solidFill>
                <a:latin typeface="Calibri" pitchFamily="34" charset="0"/>
                <a:ea typeface="Calibri" pitchFamily="34" charset="-122"/>
                <a:cs typeface="Calibri" pitchFamily="34" charset="-120"/>
              </a:rPr>
              <a:t>can cover a $400 emergency with cash. Harbor makes it reachable in time.</a:t>
            </a:r>
            <a:endParaRPr lang="en-US" sz="1500" dirty="0"/>
          </a:p>
        </p:txBody>
      </p:sp>
      <p:sp>
        <p:nvSpPr>
          <p:cNvPr id="7" name="Shape 5"/>
          <p:cNvSpPr/>
          <p:nvPr/>
        </p:nvSpPr>
        <p:spPr>
          <a:xfrm>
            <a:off x="4403750" y="2286000"/>
            <a:ext cx="3383280" cy="0"/>
          </a:xfrm>
          <a:prstGeom prst="line">
            <a:avLst/>
          </a:prstGeom>
          <a:noFill/>
          <a:ln w="12700">
            <a:solidFill>
              <a:srgbClr val="0B1D2A"/>
            </a:solidFill>
            <a:prstDash val="solid"/>
          </a:ln>
        </p:spPr>
        <p:txBody>
          <a:bodyPr/>
          <a:lstStyle/>
          <a:p>
            <a:endParaRPr lang="en-US"/>
          </a:p>
        </p:txBody>
      </p:sp>
      <p:sp>
        <p:nvSpPr>
          <p:cNvPr id="8" name="Text 6"/>
          <p:cNvSpPr txBox="1"/>
          <p:nvPr/>
        </p:nvSpPr>
        <p:spPr>
          <a:xfrm>
            <a:off x="4403750" y="2468880"/>
            <a:ext cx="3383280" cy="1280160"/>
          </a:xfrm>
          <a:prstGeom prst="rect">
            <a:avLst/>
          </a:prstGeom>
          <a:noFill/>
          <a:ln/>
        </p:spPr>
        <p:txBody>
          <a:bodyPr wrap="square" lIns="0" tIns="0" rIns="0" bIns="0" rtlCol="0" anchor="t"/>
          <a:lstStyle/>
          <a:p>
            <a:pPr marL="0" indent="0">
              <a:buNone/>
            </a:pPr>
            <a:r>
              <a:rPr lang="en-US" sz="8800" dirty="0">
                <a:solidFill>
                  <a:srgbClr val="0B1D2A"/>
                </a:solidFill>
                <a:latin typeface="Cambria" pitchFamily="34" charset="0"/>
                <a:ea typeface="Cambria" pitchFamily="34" charset="-122"/>
                <a:cs typeface="Cambria" pitchFamily="34" charset="-120"/>
              </a:rPr>
              <a:t>37%</a:t>
            </a:r>
            <a:endParaRPr lang="en-US" sz="8800" dirty="0"/>
          </a:p>
        </p:txBody>
      </p:sp>
      <p:sp>
        <p:nvSpPr>
          <p:cNvPr id="9" name="Text 7"/>
          <p:cNvSpPr txBox="1"/>
          <p:nvPr/>
        </p:nvSpPr>
        <p:spPr>
          <a:xfrm>
            <a:off x="4403750" y="3886200"/>
            <a:ext cx="3383280" cy="365760"/>
          </a:xfrm>
          <a:prstGeom prst="rect">
            <a:avLst/>
          </a:prstGeom>
          <a:noFill/>
          <a:ln/>
        </p:spPr>
        <p:txBody>
          <a:bodyPr wrap="square" lIns="0" tIns="0" rIns="0" bIns="0" rtlCol="0" anchor="t"/>
          <a:lstStyle/>
          <a:p>
            <a:pPr marL="0" indent="0">
              <a:buNone/>
            </a:pPr>
            <a:r>
              <a:rPr lang="en-US" sz="1800" b="1" dirty="0">
                <a:solidFill>
                  <a:srgbClr val="0B1D2A"/>
                </a:solidFill>
                <a:latin typeface="Calibri" pitchFamily="34" charset="0"/>
                <a:ea typeface="Calibri" pitchFamily="34" charset="-122"/>
                <a:cs typeface="Calibri" pitchFamily="34" charset="-120"/>
              </a:rPr>
              <a:t>Stretched</a:t>
            </a:r>
            <a:endParaRPr lang="en-US" sz="1800" dirty="0"/>
          </a:p>
        </p:txBody>
      </p:sp>
      <p:sp>
        <p:nvSpPr>
          <p:cNvPr id="10" name="Text 8"/>
          <p:cNvSpPr txBox="1"/>
          <p:nvPr/>
        </p:nvSpPr>
        <p:spPr>
          <a:xfrm>
            <a:off x="4403750" y="4297680"/>
            <a:ext cx="3383280" cy="822960"/>
          </a:xfrm>
          <a:prstGeom prst="rect">
            <a:avLst/>
          </a:prstGeom>
          <a:noFill/>
          <a:ln/>
        </p:spPr>
        <p:txBody>
          <a:bodyPr wrap="square" lIns="0" tIns="0" rIns="0" bIns="0" rtlCol="0" anchor="t"/>
          <a:lstStyle/>
          <a:p>
            <a:pPr marL="0" indent="0">
              <a:buNone/>
            </a:pPr>
            <a:r>
              <a:rPr lang="en-US" sz="1500" dirty="0">
                <a:solidFill>
                  <a:srgbClr val="4B5A66"/>
                </a:solidFill>
                <a:latin typeface="Calibri" pitchFamily="34" charset="0"/>
                <a:ea typeface="Calibri" pitchFamily="34" charset="-122"/>
                <a:cs typeface="Calibri" pitchFamily="34" charset="-120"/>
              </a:rPr>
              <a:t>can't cover it. Harbor builds a Storm Fund from round ups and moves bill dates.</a:t>
            </a:r>
            <a:endParaRPr lang="en-US" sz="1500" dirty="0"/>
          </a:p>
        </p:txBody>
      </p:sp>
      <p:sp>
        <p:nvSpPr>
          <p:cNvPr id="11" name="Shape 9"/>
          <p:cNvSpPr/>
          <p:nvPr/>
        </p:nvSpPr>
        <p:spPr>
          <a:xfrm>
            <a:off x="8258861" y="2286000"/>
            <a:ext cx="3383280" cy="0"/>
          </a:xfrm>
          <a:prstGeom prst="line">
            <a:avLst/>
          </a:prstGeom>
          <a:noFill/>
          <a:ln w="12700">
            <a:solidFill>
              <a:srgbClr val="D9431A"/>
            </a:solidFill>
            <a:prstDash val="solid"/>
          </a:ln>
        </p:spPr>
        <p:txBody>
          <a:bodyPr/>
          <a:lstStyle/>
          <a:p>
            <a:endParaRPr lang="en-US"/>
          </a:p>
        </p:txBody>
      </p:sp>
      <p:sp>
        <p:nvSpPr>
          <p:cNvPr id="12" name="Text 10"/>
          <p:cNvSpPr txBox="1"/>
          <p:nvPr/>
        </p:nvSpPr>
        <p:spPr>
          <a:xfrm>
            <a:off x="8258861" y="2468880"/>
            <a:ext cx="3383280" cy="1280160"/>
          </a:xfrm>
          <a:prstGeom prst="rect">
            <a:avLst/>
          </a:prstGeom>
          <a:noFill/>
          <a:ln/>
        </p:spPr>
        <p:txBody>
          <a:bodyPr wrap="square" lIns="0" tIns="0" rIns="0" bIns="0" rtlCol="0" anchor="t"/>
          <a:lstStyle/>
          <a:p>
            <a:pPr marL="0" indent="0">
              <a:buNone/>
            </a:pPr>
            <a:r>
              <a:rPr lang="en-US" sz="8800" dirty="0">
                <a:solidFill>
                  <a:srgbClr val="D9431A"/>
                </a:solidFill>
                <a:latin typeface="Cambria" pitchFamily="34" charset="0"/>
                <a:ea typeface="Cambria" pitchFamily="34" charset="-122"/>
                <a:cs typeface="Cambria" pitchFamily="34" charset="-120"/>
              </a:rPr>
              <a:t>24%</a:t>
            </a:r>
            <a:endParaRPr lang="en-US" sz="8800" dirty="0"/>
          </a:p>
        </p:txBody>
      </p:sp>
      <p:sp>
        <p:nvSpPr>
          <p:cNvPr id="13" name="Text 11"/>
          <p:cNvSpPr txBox="1"/>
          <p:nvPr/>
        </p:nvSpPr>
        <p:spPr>
          <a:xfrm>
            <a:off x="8258861" y="3886200"/>
            <a:ext cx="3383280" cy="365760"/>
          </a:xfrm>
          <a:prstGeom prst="rect">
            <a:avLst/>
          </a:prstGeom>
          <a:noFill/>
          <a:ln/>
        </p:spPr>
        <p:txBody>
          <a:bodyPr wrap="square" lIns="0" tIns="0" rIns="0" bIns="0" rtlCol="0" anchor="t"/>
          <a:lstStyle/>
          <a:p>
            <a:pPr marL="0" indent="0">
              <a:buNone/>
            </a:pPr>
            <a:r>
              <a:rPr lang="en-US" sz="1800" b="1" dirty="0">
                <a:solidFill>
                  <a:srgbClr val="0B1D2A"/>
                </a:solidFill>
                <a:latin typeface="Calibri" pitchFamily="34" charset="0"/>
                <a:ea typeface="Calibri" pitchFamily="34" charset="-122"/>
                <a:cs typeface="Calibri" pitchFamily="34" charset="-120"/>
              </a:rPr>
              <a:t>Can't leave</a:t>
            </a:r>
            <a:endParaRPr lang="en-US" sz="1800" dirty="0"/>
          </a:p>
        </p:txBody>
      </p:sp>
      <p:sp>
        <p:nvSpPr>
          <p:cNvPr id="14" name="Text 12"/>
          <p:cNvSpPr txBox="1"/>
          <p:nvPr/>
        </p:nvSpPr>
        <p:spPr>
          <a:xfrm>
            <a:off x="8258861" y="4297680"/>
            <a:ext cx="3383280" cy="822960"/>
          </a:xfrm>
          <a:prstGeom prst="rect">
            <a:avLst/>
          </a:prstGeom>
          <a:noFill/>
          <a:ln/>
        </p:spPr>
        <p:txBody>
          <a:bodyPr wrap="square" lIns="0" tIns="0" rIns="0" bIns="0" rtlCol="0" anchor="t"/>
          <a:lstStyle/>
          <a:p>
            <a:pPr marL="0" indent="0">
              <a:buNone/>
            </a:pPr>
            <a:r>
              <a:rPr lang="en-US" sz="1500" dirty="0">
                <a:solidFill>
                  <a:srgbClr val="4B5A66"/>
                </a:solidFill>
                <a:latin typeface="Calibri" pitchFamily="34" charset="0"/>
                <a:ea typeface="Calibri" pitchFamily="34" charset="-122"/>
                <a:cs typeface="Calibri" pitchFamily="34" charset="-120"/>
              </a:rPr>
              <a:t>can't afford to evacuate. Harbor finds them a free way out.</a:t>
            </a:r>
            <a:endParaRPr lang="en-US" sz="1500" dirty="0"/>
          </a:p>
        </p:txBody>
      </p:sp>
      <p:sp>
        <p:nvSpPr>
          <p:cNvPr id="15" name="Text 13"/>
          <p:cNvSpPr txBox="1"/>
          <p:nvPr/>
        </p:nvSpPr>
        <p:spPr>
          <a:xfrm>
            <a:off x="548640" y="6263640"/>
            <a:ext cx="11094415" cy="274320"/>
          </a:xfrm>
          <a:prstGeom prst="rect">
            <a:avLst/>
          </a:prstGeom>
          <a:noFill/>
          <a:ln/>
        </p:spPr>
        <p:txBody>
          <a:bodyPr wrap="square" lIns="0" tIns="0" rIns="0" bIns="0" rtlCol="0" anchor="ctr"/>
          <a:lstStyle/>
          <a:p>
            <a:pPr marL="0" indent="0">
              <a:buNone/>
            </a:pPr>
            <a:r>
              <a:rPr lang="en-US" sz="1000" dirty="0">
                <a:solidFill>
                  <a:srgbClr val="4B5A66"/>
                </a:solidFill>
                <a:latin typeface="Calibri" pitchFamily="34" charset="0"/>
                <a:ea typeface="Calibri" pitchFamily="34" charset="-122"/>
                <a:cs typeface="Calibri" pitchFamily="34" charset="-120"/>
              </a:rPr>
              <a:t>Groups overlap. Sources: Federal Reserve SHED 2025 · YouGov, Oct 2024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868680"/>
            <a:ext cx="11094415" cy="914400"/>
          </a:xfrm>
          <a:prstGeom prst="rect">
            <a:avLst/>
          </a:prstGeom>
          <a:noFill/>
          <a:ln/>
        </p:spPr>
        <p:txBody>
          <a:bodyPr wrap="square" lIns="0" tIns="0" rIns="0" bIns="0" rtlCol="0" anchor="t"/>
          <a:lstStyle/>
          <a:p>
            <a:pPr marL="0" indent="0" algn="l">
              <a:buNone/>
            </a:pPr>
            <a:r>
              <a:rPr lang="en-US" sz="4000" dirty="0">
                <a:solidFill>
                  <a:srgbClr val="0B1D2A"/>
                </a:solidFill>
                <a:latin typeface="Cambria" pitchFamily="34" charset="0"/>
                <a:ea typeface="Cambria" pitchFamily="34" charset="-122"/>
                <a:cs typeface="Cambria" pitchFamily="34" charset="-120"/>
              </a:rPr>
              <a:t>Money that moves with </a:t>
            </a:r>
            <a:r>
              <a:rPr lang="en-US" sz="4000" i="1" dirty="0">
                <a:solidFill>
                  <a:srgbClr val="FF5B2E"/>
                </a:solidFill>
                <a:latin typeface="Cambria" pitchFamily="34" charset="0"/>
                <a:ea typeface="Cambria" pitchFamily="34" charset="-122"/>
                <a:cs typeface="Cambria" pitchFamily="34" charset="-120"/>
              </a:rPr>
              <a:t>the forecast.</a:t>
            </a:r>
            <a:endParaRPr lang="en-US" sz="4000" dirty="0"/>
          </a:p>
        </p:txBody>
      </p:sp>
      <p:sp>
        <p:nvSpPr>
          <p:cNvPr id="3" name="Shape 1"/>
          <p:cNvSpPr/>
          <p:nvPr/>
        </p:nvSpPr>
        <p:spPr>
          <a:xfrm>
            <a:off x="548640" y="2331720"/>
            <a:ext cx="685800" cy="685800"/>
          </a:xfrm>
          <a:prstGeom prst="ellipse">
            <a:avLst/>
          </a:prstGeom>
          <a:solidFill>
            <a:srgbClr val="0B1D2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31520" y="2514600"/>
            <a:ext cx="320040" cy="320040"/>
          </a:xfrm>
          <a:prstGeom prst="rect">
            <a:avLst/>
          </a:prstGeom>
        </p:spPr>
      </p:pic>
      <p:sp>
        <p:nvSpPr>
          <p:cNvPr id="5" name="Text 2"/>
          <p:cNvSpPr txBox="1"/>
          <p:nvPr/>
        </p:nvSpPr>
        <p:spPr>
          <a:xfrm>
            <a:off x="548640" y="3246120"/>
            <a:ext cx="3383280" cy="685800"/>
          </a:xfrm>
          <a:prstGeom prst="rect">
            <a:avLst/>
          </a:prstGeom>
          <a:noFill/>
          <a:ln/>
        </p:spPr>
        <p:txBody>
          <a:bodyPr wrap="square" lIns="0" tIns="0" rIns="0" bIns="0" rtlCol="0" anchor="t"/>
          <a:lstStyle/>
          <a:p>
            <a:pPr marL="0" indent="0">
              <a:buNone/>
            </a:pPr>
            <a:r>
              <a:rPr lang="en-US" sz="3800" dirty="0">
                <a:solidFill>
                  <a:srgbClr val="0B1D2A"/>
                </a:solidFill>
                <a:latin typeface="Cambria" pitchFamily="34" charset="0"/>
                <a:ea typeface="Cambria" pitchFamily="34" charset="-122"/>
                <a:cs typeface="Cambria" pitchFamily="34" charset="-120"/>
              </a:rPr>
              <a:t>Watch</a:t>
            </a:r>
            <a:endParaRPr lang="en-US" sz="3800" dirty="0"/>
          </a:p>
        </p:txBody>
      </p:sp>
      <p:sp>
        <p:nvSpPr>
          <p:cNvPr id="6" name="Text 3"/>
          <p:cNvSpPr txBox="1"/>
          <p:nvPr/>
        </p:nvSpPr>
        <p:spPr>
          <a:xfrm>
            <a:off x="548640" y="3931920"/>
            <a:ext cx="3383280" cy="365760"/>
          </a:xfrm>
          <a:prstGeom prst="rect">
            <a:avLst/>
          </a:prstGeom>
          <a:noFill/>
          <a:ln/>
        </p:spPr>
        <p:txBody>
          <a:bodyPr wrap="square" lIns="0" tIns="0" rIns="0" bIns="0" rtlCol="0" anchor="t"/>
          <a:lstStyle/>
          <a:p>
            <a:pPr marL="0" indent="0">
              <a:buNone/>
            </a:pPr>
            <a:r>
              <a:rPr lang="en-US" sz="1600" b="1" dirty="0">
                <a:solidFill>
                  <a:srgbClr val="0B1D2A"/>
                </a:solidFill>
                <a:latin typeface="Calibri" pitchFamily="34" charset="0"/>
                <a:ea typeface="Calibri" pitchFamily="34" charset="-122"/>
                <a:cs typeface="Calibri" pitchFamily="34" charset="-120"/>
              </a:rPr>
              <a:t>the forecast</a:t>
            </a:r>
            <a:endParaRPr lang="en-US" sz="1600" dirty="0"/>
          </a:p>
        </p:txBody>
      </p:sp>
      <p:sp>
        <p:nvSpPr>
          <p:cNvPr id="7" name="Text 4"/>
          <p:cNvSpPr txBox="1"/>
          <p:nvPr/>
        </p:nvSpPr>
        <p:spPr>
          <a:xfrm>
            <a:off x="548640" y="4343400"/>
            <a:ext cx="3383280" cy="822960"/>
          </a:xfrm>
          <a:prstGeom prst="rect">
            <a:avLst/>
          </a:prstGeom>
          <a:noFill/>
          <a:ln/>
        </p:spPr>
        <p:txBody>
          <a:bodyPr wrap="square" lIns="0" tIns="0" rIns="0" bIns="0" rtlCol="0" anchor="t"/>
          <a:lstStyle/>
          <a:p>
            <a:pPr marL="0" indent="0">
              <a:buNone/>
            </a:pPr>
            <a:r>
              <a:rPr lang="en-US" sz="1500" dirty="0">
                <a:solidFill>
                  <a:srgbClr val="4B5A66"/>
                </a:solidFill>
                <a:latin typeface="Calibri" pitchFamily="34" charset="0"/>
                <a:ea typeface="Calibri" pitchFamily="34" charset="-122"/>
                <a:cs typeface="Calibri" pitchFamily="34" charset="-120"/>
              </a:rPr>
              <a:t>Tracks every hurricane advisory for your ZIP code.</a:t>
            </a:r>
            <a:endParaRPr lang="en-US" sz="1500" dirty="0"/>
          </a:p>
        </p:txBody>
      </p:sp>
      <p:sp>
        <p:nvSpPr>
          <p:cNvPr id="8" name="Shape 5"/>
          <p:cNvSpPr/>
          <p:nvPr/>
        </p:nvSpPr>
        <p:spPr>
          <a:xfrm>
            <a:off x="4403750" y="2331720"/>
            <a:ext cx="685800" cy="685800"/>
          </a:xfrm>
          <a:prstGeom prst="ellipse">
            <a:avLst/>
          </a:prstGeom>
          <a:solidFill>
            <a:srgbClr val="0B1D2A"/>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4586630" y="2514600"/>
            <a:ext cx="320040" cy="320040"/>
          </a:xfrm>
          <a:prstGeom prst="rect">
            <a:avLst/>
          </a:prstGeom>
        </p:spPr>
      </p:pic>
      <p:sp>
        <p:nvSpPr>
          <p:cNvPr id="10" name="Text 6"/>
          <p:cNvSpPr txBox="1"/>
          <p:nvPr/>
        </p:nvSpPr>
        <p:spPr>
          <a:xfrm>
            <a:off x="4403750" y="3246120"/>
            <a:ext cx="3383280" cy="685800"/>
          </a:xfrm>
          <a:prstGeom prst="rect">
            <a:avLst/>
          </a:prstGeom>
          <a:noFill/>
          <a:ln/>
        </p:spPr>
        <p:txBody>
          <a:bodyPr wrap="square" lIns="0" tIns="0" rIns="0" bIns="0" rtlCol="0" anchor="t"/>
          <a:lstStyle/>
          <a:p>
            <a:pPr marL="0" indent="0">
              <a:buNone/>
            </a:pPr>
            <a:r>
              <a:rPr lang="en-US" sz="3800" dirty="0">
                <a:solidFill>
                  <a:srgbClr val="0B1D2A"/>
                </a:solidFill>
                <a:latin typeface="Cambria" pitchFamily="34" charset="0"/>
                <a:ea typeface="Cambria" pitchFamily="34" charset="-122"/>
                <a:cs typeface="Cambria" pitchFamily="34" charset="-120"/>
              </a:rPr>
              <a:t>Prepare</a:t>
            </a:r>
            <a:endParaRPr lang="en-US" sz="3800" dirty="0"/>
          </a:p>
        </p:txBody>
      </p:sp>
      <p:sp>
        <p:nvSpPr>
          <p:cNvPr id="11" name="Text 7"/>
          <p:cNvSpPr txBox="1"/>
          <p:nvPr/>
        </p:nvSpPr>
        <p:spPr>
          <a:xfrm>
            <a:off x="4403750" y="3931920"/>
            <a:ext cx="3383280" cy="365760"/>
          </a:xfrm>
          <a:prstGeom prst="rect">
            <a:avLst/>
          </a:prstGeom>
          <a:noFill/>
          <a:ln/>
        </p:spPr>
        <p:txBody>
          <a:bodyPr wrap="square" lIns="0" tIns="0" rIns="0" bIns="0" rtlCol="0" anchor="t"/>
          <a:lstStyle/>
          <a:p>
            <a:pPr marL="0" indent="0">
              <a:buNone/>
            </a:pPr>
            <a:r>
              <a:rPr lang="en-US" sz="1600" b="1" dirty="0">
                <a:solidFill>
                  <a:srgbClr val="0B1D2A"/>
                </a:solidFill>
                <a:latin typeface="Calibri" pitchFamily="34" charset="0"/>
                <a:ea typeface="Calibri" pitchFamily="34" charset="-122"/>
                <a:cs typeface="Calibri" pitchFamily="34" charset="-120"/>
              </a:rPr>
              <a:t>the cash</a:t>
            </a:r>
            <a:endParaRPr lang="en-US" sz="1600" dirty="0"/>
          </a:p>
        </p:txBody>
      </p:sp>
      <p:sp>
        <p:nvSpPr>
          <p:cNvPr id="12" name="Text 8"/>
          <p:cNvSpPr txBox="1"/>
          <p:nvPr/>
        </p:nvSpPr>
        <p:spPr>
          <a:xfrm>
            <a:off x="4403750" y="4343400"/>
            <a:ext cx="3383280" cy="822960"/>
          </a:xfrm>
          <a:prstGeom prst="rect">
            <a:avLst/>
          </a:prstGeom>
          <a:noFill/>
          <a:ln/>
        </p:spPr>
        <p:txBody>
          <a:bodyPr wrap="square" lIns="0" tIns="0" rIns="0" bIns="0" rtlCol="0" anchor="t"/>
          <a:lstStyle/>
          <a:p>
            <a:pPr marL="0" indent="0">
              <a:buNone/>
            </a:pPr>
            <a:r>
              <a:rPr lang="en-US" sz="1500" dirty="0">
                <a:solidFill>
                  <a:srgbClr val="4B5A66"/>
                </a:solidFill>
                <a:latin typeface="Calibri" pitchFamily="34" charset="0"/>
                <a:ea typeface="Calibri" pitchFamily="34" charset="-122"/>
                <a:cs typeface="Calibri" pitchFamily="34" charset="-120"/>
              </a:rPr>
              <a:t>Sizes your evacuation budget and puts it within reach. You approve with one tap.</a:t>
            </a:r>
            <a:endParaRPr lang="en-US" sz="1500" dirty="0"/>
          </a:p>
        </p:txBody>
      </p:sp>
      <p:sp>
        <p:nvSpPr>
          <p:cNvPr id="13" name="Shape 9"/>
          <p:cNvSpPr/>
          <p:nvPr/>
        </p:nvSpPr>
        <p:spPr>
          <a:xfrm>
            <a:off x="8258861" y="2331720"/>
            <a:ext cx="685800" cy="685800"/>
          </a:xfrm>
          <a:prstGeom prst="ellipse">
            <a:avLst/>
          </a:prstGeom>
          <a:solidFill>
            <a:srgbClr val="D9431A"/>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8441741" y="2514600"/>
            <a:ext cx="320040" cy="320040"/>
          </a:xfrm>
          <a:prstGeom prst="rect">
            <a:avLst/>
          </a:prstGeom>
        </p:spPr>
      </p:pic>
      <p:sp>
        <p:nvSpPr>
          <p:cNvPr id="15" name="Text 10"/>
          <p:cNvSpPr txBox="1"/>
          <p:nvPr/>
        </p:nvSpPr>
        <p:spPr>
          <a:xfrm>
            <a:off x="8258861" y="3246120"/>
            <a:ext cx="3383280" cy="685800"/>
          </a:xfrm>
          <a:prstGeom prst="rect">
            <a:avLst/>
          </a:prstGeom>
          <a:noFill/>
          <a:ln/>
        </p:spPr>
        <p:txBody>
          <a:bodyPr wrap="square" lIns="0" tIns="0" rIns="0" bIns="0" rtlCol="0" anchor="t"/>
          <a:lstStyle/>
          <a:p>
            <a:pPr marL="0" indent="0">
              <a:buNone/>
            </a:pPr>
            <a:r>
              <a:rPr lang="en-US" sz="3800" dirty="0">
                <a:solidFill>
                  <a:srgbClr val="D9431A"/>
                </a:solidFill>
                <a:latin typeface="Cambria" pitchFamily="34" charset="0"/>
                <a:ea typeface="Cambria" pitchFamily="34" charset="-122"/>
                <a:cs typeface="Cambria" pitchFamily="34" charset="-120"/>
              </a:rPr>
              <a:t>Return</a:t>
            </a:r>
            <a:endParaRPr lang="en-US" sz="3800" dirty="0"/>
          </a:p>
        </p:txBody>
      </p:sp>
      <p:sp>
        <p:nvSpPr>
          <p:cNvPr id="16" name="Text 11"/>
          <p:cNvSpPr txBox="1"/>
          <p:nvPr/>
        </p:nvSpPr>
        <p:spPr>
          <a:xfrm>
            <a:off x="8258861" y="3931920"/>
            <a:ext cx="3383280" cy="365760"/>
          </a:xfrm>
          <a:prstGeom prst="rect">
            <a:avLst/>
          </a:prstGeom>
          <a:noFill/>
          <a:ln/>
        </p:spPr>
        <p:txBody>
          <a:bodyPr wrap="square" lIns="0" tIns="0" rIns="0" bIns="0" rtlCol="0" anchor="t"/>
          <a:lstStyle/>
          <a:p>
            <a:pPr marL="0" indent="0">
              <a:buNone/>
            </a:pPr>
            <a:r>
              <a:rPr lang="en-US" sz="1600" b="1" dirty="0">
                <a:solidFill>
                  <a:srgbClr val="0B1D2A"/>
                </a:solidFill>
                <a:latin typeface="Calibri" pitchFamily="34" charset="0"/>
                <a:ea typeface="Calibri" pitchFamily="34" charset="-122"/>
                <a:cs typeface="Calibri" pitchFamily="34" charset="-120"/>
              </a:rPr>
              <a:t>after the storm</a:t>
            </a:r>
            <a:endParaRPr lang="en-US" sz="1600" dirty="0"/>
          </a:p>
        </p:txBody>
      </p:sp>
      <p:sp>
        <p:nvSpPr>
          <p:cNvPr id="17" name="Text 12"/>
          <p:cNvSpPr txBox="1"/>
          <p:nvPr/>
        </p:nvSpPr>
        <p:spPr>
          <a:xfrm>
            <a:off x="8258861" y="4343400"/>
            <a:ext cx="3383280" cy="822960"/>
          </a:xfrm>
          <a:prstGeom prst="rect">
            <a:avLst/>
          </a:prstGeom>
          <a:noFill/>
          <a:ln/>
        </p:spPr>
        <p:txBody>
          <a:bodyPr wrap="square" lIns="0" tIns="0" rIns="0" bIns="0" rtlCol="0" anchor="t"/>
          <a:lstStyle/>
          <a:p>
            <a:pPr marL="0" indent="0">
              <a:buNone/>
            </a:pPr>
            <a:r>
              <a:rPr lang="en-US" sz="1500" dirty="0">
                <a:solidFill>
                  <a:srgbClr val="4B5A66"/>
                </a:solidFill>
                <a:latin typeface="Calibri" pitchFamily="34" charset="0"/>
                <a:ea typeface="Calibri" pitchFamily="34" charset="-122"/>
                <a:cs typeface="Calibri" pitchFamily="34" charset="-120"/>
              </a:rPr>
              <a:t>Moves the money back when the all clear comes.</a:t>
            </a:r>
            <a:endParaRPr lang="en-US" sz="1500" dirty="0"/>
          </a:p>
        </p:txBody>
      </p:sp>
      <p:sp>
        <p:nvSpPr>
          <p:cNvPr id="18" name="Text 13"/>
          <p:cNvSpPr txBox="1"/>
          <p:nvPr/>
        </p:nvSpPr>
        <p:spPr>
          <a:xfrm>
            <a:off x="548640" y="5897880"/>
            <a:ext cx="11094415" cy="411480"/>
          </a:xfrm>
          <a:prstGeom prst="rect">
            <a:avLst/>
          </a:prstGeom>
          <a:noFill/>
          <a:ln/>
        </p:spPr>
        <p:txBody>
          <a:bodyPr wrap="square" lIns="0" tIns="0" rIns="0" bIns="0" rtlCol="0" anchor="ctr"/>
          <a:lstStyle/>
          <a:p>
            <a:pPr marL="0" indent="0">
              <a:buNone/>
            </a:pPr>
            <a:r>
              <a:rPr lang="en-US" sz="1800" i="1" dirty="0">
                <a:solidFill>
                  <a:srgbClr val="0B1D2A"/>
                </a:solidFill>
                <a:latin typeface="Cambria" pitchFamily="34" charset="0"/>
                <a:ea typeface="Cambria" pitchFamily="34" charset="-122"/>
                <a:cs typeface="Cambria" pitchFamily="34" charset="-120"/>
              </a:rPr>
              <a:t>The customer never has to remember to open an app.</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ampa Bay seen from the International Space Station"/>
          <p:cNvPicPr>
            <a:picLocks noChangeAspect="1"/>
          </p:cNvPicPr>
          <p:nvPr/>
        </p:nvPicPr>
        <p:blipFill>
          <a:blip r:embed="rId3"/>
          <a:srcRect/>
          <a:stretch/>
        </p:blipFill>
        <p:spPr>
          <a:xfrm>
            <a:off x="8092440" y="0"/>
            <a:ext cx="4099255" cy="6858000"/>
          </a:xfrm>
          <a:prstGeom prst="rect">
            <a:avLst/>
          </a:prstGeom>
        </p:spPr>
      </p:pic>
      <p:sp>
        <p:nvSpPr>
          <p:cNvPr id="3" name="Text 1"/>
          <p:cNvSpPr>
            <a:spLocks noGrp="1"/>
          </p:cNvSpPr>
          <p:nvPr>
            <p:ph type="title" idx="102" hasCustomPrompt="1"/>
          </p:nvPr>
        </p:nvSpPr>
        <p:spPr>
          <a:xfrm>
            <a:off x="548640" y="868680"/>
            <a:ext cx="11094415" cy="914400"/>
          </a:xfrm>
          <a:prstGeom prst="rect">
            <a:avLst/>
          </a:prstGeom>
          <a:noFill/>
          <a:ln/>
        </p:spPr>
        <p:txBody>
          <a:bodyPr wrap="square" lIns="0" tIns="0" rIns="0" bIns="0" rtlCol="0" anchor="t"/>
          <a:lstStyle/>
          <a:p>
            <a:pPr marL="0" indent="0" algn="l">
              <a:buNone/>
            </a:pPr>
            <a:r>
              <a:rPr lang="en-US" sz="4000" dirty="0">
                <a:solidFill>
                  <a:srgbClr val="EFEBE3"/>
                </a:solidFill>
                <a:latin typeface="Cambria" pitchFamily="34" charset="0"/>
                <a:ea typeface="Cambria" pitchFamily="34" charset="-122"/>
                <a:cs typeface="Cambria" pitchFamily="34" charset="-120"/>
              </a:rPr>
              <a:t>No money? </a:t>
            </a:r>
            <a:r>
              <a:rPr lang="en-US" sz="4000" i="1" dirty="0">
                <a:solidFill>
                  <a:srgbClr val="FF5B2E"/>
                </a:solidFill>
                <a:latin typeface="Cambria" pitchFamily="34" charset="0"/>
                <a:ea typeface="Cambria" pitchFamily="34" charset="-122"/>
                <a:cs typeface="Cambria" pitchFamily="34" charset="-120"/>
              </a:rPr>
              <a:t>A free way out.</a:t>
            </a:r>
            <a:endParaRPr lang="en-US" sz="4000" dirty="0"/>
          </a:p>
        </p:txBody>
      </p:sp>
      <p:sp>
        <p:nvSpPr>
          <p:cNvPr id="4" name="Shape 1"/>
          <p:cNvSpPr/>
          <p:nvPr/>
        </p:nvSpPr>
        <p:spPr>
          <a:xfrm>
            <a:off x="548640" y="2011680"/>
            <a:ext cx="548640" cy="548640"/>
          </a:xfrm>
          <a:prstGeom prst="ellipse">
            <a:avLst/>
          </a:prstGeom>
          <a:solidFill>
            <a:srgbClr val="1B3142"/>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685800" y="2148840"/>
            <a:ext cx="274320" cy="274320"/>
          </a:xfrm>
          <a:prstGeom prst="rect">
            <a:avLst/>
          </a:prstGeom>
        </p:spPr>
      </p:pic>
      <p:sp>
        <p:nvSpPr>
          <p:cNvPr id="6" name="Text 2"/>
          <p:cNvSpPr txBox="1"/>
          <p:nvPr/>
        </p:nvSpPr>
        <p:spPr>
          <a:xfrm>
            <a:off x="1325880" y="1993392"/>
            <a:ext cx="6583680" cy="365760"/>
          </a:xfrm>
          <a:prstGeom prst="rect">
            <a:avLst/>
          </a:prstGeom>
          <a:noFill/>
          <a:ln/>
        </p:spPr>
        <p:txBody>
          <a:bodyPr wrap="square" lIns="0" tIns="0" rIns="0" bIns="0" rtlCol="0" anchor="t"/>
          <a:lstStyle/>
          <a:p>
            <a:pPr marL="0" indent="0">
              <a:buNone/>
            </a:pPr>
            <a:r>
              <a:rPr lang="en-US" sz="1900" b="1" dirty="0">
                <a:solidFill>
                  <a:srgbClr val="EFEBE3"/>
                </a:solidFill>
                <a:latin typeface="Calibri" pitchFamily="34" charset="0"/>
                <a:ea typeface="Calibri" pitchFamily="34" charset="-122"/>
                <a:cs typeface="Calibri" pitchFamily="34" charset="-120"/>
              </a:rPr>
              <a:t>Free buses</a:t>
            </a:r>
            <a:endParaRPr lang="en-US" sz="1900" dirty="0"/>
          </a:p>
        </p:txBody>
      </p:sp>
      <p:sp>
        <p:nvSpPr>
          <p:cNvPr id="7" name="Text 3"/>
          <p:cNvSpPr txBox="1"/>
          <p:nvPr/>
        </p:nvSpPr>
        <p:spPr>
          <a:xfrm>
            <a:off x="1325880" y="2359152"/>
            <a:ext cx="6583680" cy="502920"/>
          </a:xfrm>
          <a:prstGeom prst="rect">
            <a:avLst/>
          </a:prstGeom>
          <a:noFill/>
          <a:ln/>
        </p:spPr>
        <p:txBody>
          <a:bodyPr wrap="square" lIns="0" tIns="0" rIns="0" bIns="0" rtlCol="0" anchor="t"/>
          <a:lstStyle/>
          <a:p>
            <a:pPr marL="0" indent="0">
              <a:buNone/>
            </a:pPr>
            <a:r>
              <a:rPr lang="en-US" sz="1400" dirty="0">
                <a:solidFill>
                  <a:srgbClr val="A9B8C4"/>
                </a:solidFill>
                <a:latin typeface="Calibri" pitchFamily="34" charset="0"/>
                <a:ea typeface="Calibri" pitchFamily="34" charset="-122"/>
                <a:cs typeface="Calibri" pitchFamily="34" charset="-120"/>
              </a:rPr>
              <a:t>Registers you for county evacuation buses before signups close, 60 hours before landfall in Sarasota.</a:t>
            </a:r>
            <a:endParaRPr lang="en-US" sz="1400" dirty="0"/>
          </a:p>
        </p:txBody>
      </p:sp>
      <p:sp>
        <p:nvSpPr>
          <p:cNvPr id="8" name="Shape 4"/>
          <p:cNvSpPr/>
          <p:nvPr/>
        </p:nvSpPr>
        <p:spPr>
          <a:xfrm>
            <a:off x="548640" y="2971800"/>
            <a:ext cx="548640" cy="548640"/>
          </a:xfrm>
          <a:prstGeom prst="ellipse">
            <a:avLst/>
          </a:prstGeom>
          <a:solidFill>
            <a:srgbClr val="1B3142"/>
          </a:solidFill>
          <a:ln/>
        </p:spPr>
        <p:txBody>
          <a:bodyPr/>
          <a:lstStyle/>
          <a:p>
            <a:endParaRPr lang="en-US"/>
          </a:p>
        </p:txBody>
      </p:sp>
      <p:pic>
        <p:nvPicPr>
          <p:cNvPr id="9" name="Image 2" descr="preencoded.png"/>
          <p:cNvPicPr>
            <a:picLocks noChangeAspect="1"/>
          </p:cNvPicPr>
          <p:nvPr/>
        </p:nvPicPr>
        <p:blipFill>
          <a:blip r:embed="rId5"/>
          <a:stretch>
            <a:fillRect/>
          </a:stretch>
        </p:blipFill>
        <p:spPr>
          <a:xfrm>
            <a:off x="685800" y="3108960"/>
            <a:ext cx="274320" cy="274320"/>
          </a:xfrm>
          <a:prstGeom prst="rect">
            <a:avLst/>
          </a:prstGeom>
        </p:spPr>
      </p:pic>
      <p:sp>
        <p:nvSpPr>
          <p:cNvPr id="10" name="Text 5"/>
          <p:cNvSpPr txBox="1"/>
          <p:nvPr/>
        </p:nvSpPr>
        <p:spPr>
          <a:xfrm>
            <a:off x="1325880" y="2953512"/>
            <a:ext cx="6583680" cy="365760"/>
          </a:xfrm>
          <a:prstGeom prst="rect">
            <a:avLst/>
          </a:prstGeom>
          <a:noFill/>
          <a:ln/>
        </p:spPr>
        <p:txBody>
          <a:bodyPr wrap="square" lIns="0" tIns="0" rIns="0" bIns="0" rtlCol="0" anchor="t"/>
          <a:lstStyle/>
          <a:p>
            <a:pPr marL="0" indent="0">
              <a:buNone/>
            </a:pPr>
            <a:r>
              <a:rPr lang="en-US" sz="1900" b="1" dirty="0">
                <a:solidFill>
                  <a:srgbClr val="EFEBE3"/>
                </a:solidFill>
                <a:latin typeface="Calibri" pitchFamily="34" charset="0"/>
                <a:ea typeface="Calibri" pitchFamily="34" charset="-122"/>
                <a:cs typeface="Calibri" pitchFamily="34" charset="-120"/>
              </a:rPr>
              <a:t>Pet friendly shelters</a:t>
            </a:r>
            <a:endParaRPr lang="en-US" sz="1900" dirty="0"/>
          </a:p>
        </p:txBody>
      </p:sp>
      <p:sp>
        <p:nvSpPr>
          <p:cNvPr id="11" name="Text 6"/>
          <p:cNvSpPr txBox="1"/>
          <p:nvPr/>
        </p:nvSpPr>
        <p:spPr>
          <a:xfrm>
            <a:off x="1325880" y="3319272"/>
            <a:ext cx="6583680" cy="502920"/>
          </a:xfrm>
          <a:prstGeom prst="rect">
            <a:avLst/>
          </a:prstGeom>
          <a:noFill/>
          <a:ln/>
        </p:spPr>
        <p:txBody>
          <a:bodyPr wrap="square" lIns="0" tIns="0" rIns="0" bIns="0" rtlCol="0" anchor="t"/>
          <a:lstStyle/>
          <a:p>
            <a:pPr marL="0" indent="0">
              <a:buNone/>
            </a:pPr>
            <a:r>
              <a:rPr lang="en-US" sz="1400" dirty="0">
                <a:solidFill>
                  <a:srgbClr val="A9B8C4"/>
                </a:solidFill>
                <a:latin typeface="Calibri" pitchFamily="34" charset="0"/>
                <a:ea typeface="Calibri" pitchFamily="34" charset="-122"/>
                <a:cs typeface="Calibri" pitchFamily="34" charset="-120"/>
              </a:rPr>
              <a:t>30% of Floridians who wouldn't evacuate cite their pets. Harbor routes to shelters that take them.</a:t>
            </a:r>
            <a:endParaRPr lang="en-US" sz="1400" dirty="0"/>
          </a:p>
        </p:txBody>
      </p:sp>
      <p:sp>
        <p:nvSpPr>
          <p:cNvPr id="12" name="Shape 7"/>
          <p:cNvSpPr/>
          <p:nvPr/>
        </p:nvSpPr>
        <p:spPr>
          <a:xfrm>
            <a:off x="548640" y="3931920"/>
            <a:ext cx="548640" cy="548640"/>
          </a:xfrm>
          <a:prstGeom prst="ellipse">
            <a:avLst/>
          </a:prstGeom>
          <a:solidFill>
            <a:srgbClr val="1B3142"/>
          </a:solidFill>
          <a:ln/>
        </p:spPr>
        <p:txBody>
          <a:bodyPr/>
          <a:lstStyle/>
          <a:p>
            <a:endParaRPr lang="en-US"/>
          </a:p>
        </p:txBody>
      </p:sp>
      <p:pic>
        <p:nvPicPr>
          <p:cNvPr id="13" name="Image 3" descr="preencoded.png"/>
          <p:cNvPicPr>
            <a:picLocks noChangeAspect="1"/>
          </p:cNvPicPr>
          <p:nvPr/>
        </p:nvPicPr>
        <p:blipFill>
          <a:blip r:embed="rId6"/>
          <a:stretch>
            <a:fillRect/>
          </a:stretch>
        </p:blipFill>
        <p:spPr>
          <a:xfrm>
            <a:off x="685800" y="4069080"/>
            <a:ext cx="274320" cy="274320"/>
          </a:xfrm>
          <a:prstGeom prst="rect">
            <a:avLst/>
          </a:prstGeom>
        </p:spPr>
      </p:pic>
      <p:sp>
        <p:nvSpPr>
          <p:cNvPr id="14" name="Text 8"/>
          <p:cNvSpPr txBox="1"/>
          <p:nvPr/>
        </p:nvSpPr>
        <p:spPr>
          <a:xfrm>
            <a:off x="1325880" y="3913632"/>
            <a:ext cx="6583680" cy="365760"/>
          </a:xfrm>
          <a:prstGeom prst="rect">
            <a:avLst/>
          </a:prstGeom>
          <a:noFill/>
          <a:ln/>
        </p:spPr>
        <p:txBody>
          <a:bodyPr wrap="square" lIns="0" tIns="0" rIns="0" bIns="0" rtlCol="0" anchor="t"/>
          <a:lstStyle/>
          <a:p>
            <a:pPr marL="0" indent="0">
              <a:buNone/>
            </a:pPr>
            <a:r>
              <a:rPr lang="en-US" sz="1900" b="1" dirty="0">
                <a:solidFill>
                  <a:srgbClr val="EFEBE3"/>
                </a:solidFill>
                <a:latin typeface="Calibri" pitchFamily="34" charset="0"/>
                <a:ea typeface="Calibri" pitchFamily="34" charset="-122"/>
                <a:cs typeface="Calibri" pitchFamily="34" charset="-120"/>
              </a:rPr>
              <a:t>Family fund</a:t>
            </a:r>
            <a:endParaRPr lang="en-US" sz="1900" dirty="0"/>
          </a:p>
        </p:txBody>
      </p:sp>
      <p:sp>
        <p:nvSpPr>
          <p:cNvPr id="15" name="Text 9"/>
          <p:cNvSpPr txBox="1"/>
          <p:nvPr/>
        </p:nvSpPr>
        <p:spPr>
          <a:xfrm>
            <a:off x="1325880" y="4279392"/>
            <a:ext cx="6583680" cy="502920"/>
          </a:xfrm>
          <a:prstGeom prst="rect">
            <a:avLst/>
          </a:prstGeom>
          <a:noFill/>
          <a:ln/>
        </p:spPr>
        <p:txBody>
          <a:bodyPr wrap="square" lIns="0" tIns="0" rIns="0" bIns="0" rtlCol="0" anchor="t"/>
          <a:lstStyle/>
          <a:p>
            <a:pPr marL="0" indent="0">
              <a:buNone/>
            </a:pPr>
            <a:r>
              <a:rPr lang="en-US" sz="1400" dirty="0">
                <a:solidFill>
                  <a:srgbClr val="A9B8C4"/>
                </a:solidFill>
                <a:latin typeface="Calibri" pitchFamily="34" charset="0"/>
                <a:ea typeface="Calibri" pitchFamily="34" charset="-122"/>
                <a:cs typeface="Calibri" pitchFamily="34" charset="-120"/>
              </a:rPr>
              <a:t>Relatives send money instantly to one shared fund.</a:t>
            </a:r>
            <a:endParaRPr lang="en-US" sz="1400" dirty="0"/>
          </a:p>
        </p:txBody>
      </p:sp>
      <p:sp>
        <p:nvSpPr>
          <p:cNvPr id="16" name="Shape 10"/>
          <p:cNvSpPr/>
          <p:nvPr/>
        </p:nvSpPr>
        <p:spPr>
          <a:xfrm>
            <a:off x="548640" y="4892040"/>
            <a:ext cx="548640" cy="548640"/>
          </a:xfrm>
          <a:prstGeom prst="ellipse">
            <a:avLst/>
          </a:prstGeom>
          <a:solidFill>
            <a:srgbClr val="1B3142"/>
          </a:solidFill>
          <a:ln/>
        </p:spPr>
        <p:txBody>
          <a:bodyPr/>
          <a:lstStyle/>
          <a:p>
            <a:endParaRPr lang="en-US"/>
          </a:p>
        </p:txBody>
      </p:sp>
      <p:pic>
        <p:nvPicPr>
          <p:cNvPr id="17" name="Image 4" descr="preencoded.png"/>
          <p:cNvPicPr>
            <a:picLocks noChangeAspect="1"/>
          </p:cNvPicPr>
          <p:nvPr/>
        </p:nvPicPr>
        <p:blipFill>
          <a:blip r:embed="rId7"/>
          <a:stretch>
            <a:fillRect/>
          </a:stretch>
        </p:blipFill>
        <p:spPr>
          <a:xfrm>
            <a:off x="685800" y="5029200"/>
            <a:ext cx="274320" cy="274320"/>
          </a:xfrm>
          <a:prstGeom prst="rect">
            <a:avLst/>
          </a:prstGeom>
        </p:spPr>
      </p:pic>
      <p:sp>
        <p:nvSpPr>
          <p:cNvPr id="18" name="Text 11"/>
          <p:cNvSpPr txBox="1"/>
          <p:nvPr/>
        </p:nvSpPr>
        <p:spPr>
          <a:xfrm>
            <a:off x="1325880" y="4873752"/>
            <a:ext cx="6583680" cy="365760"/>
          </a:xfrm>
          <a:prstGeom prst="rect">
            <a:avLst/>
          </a:prstGeom>
          <a:noFill/>
          <a:ln/>
        </p:spPr>
        <p:txBody>
          <a:bodyPr wrap="square" lIns="0" tIns="0" rIns="0" bIns="0" rtlCol="0" anchor="t"/>
          <a:lstStyle/>
          <a:p>
            <a:pPr marL="0" indent="0">
              <a:buNone/>
            </a:pPr>
            <a:r>
              <a:rPr lang="en-US" sz="1900" b="1" dirty="0">
                <a:solidFill>
                  <a:srgbClr val="EFEBE3"/>
                </a:solidFill>
                <a:latin typeface="Calibri" pitchFamily="34" charset="0"/>
                <a:ea typeface="Calibri" pitchFamily="34" charset="-122"/>
                <a:cs typeface="Calibri" pitchFamily="34" charset="-120"/>
              </a:rPr>
              <a:t>FEMA aid</a:t>
            </a:r>
            <a:endParaRPr lang="en-US" sz="1900" dirty="0"/>
          </a:p>
        </p:txBody>
      </p:sp>
      <p:sp>
        <p:nvSpPr>
          <p:cNvPr id="19" name="Text 12"/>
          <p:cNvSpPr txBox="1"/>
          <p:nvPr/>
        </p:nvSpPr>
        <p:spPr>
          <a:xfrm>
            <a:off x="1325880" y="5239512"/>
            <a:ext cx="6583680" cy="502920"/>
          </a:xfrm>
          <a:prstGeom prst="rect">
            <a:avLst/>
          </a:prstGeom>
          <a:noFill/>
          <a:ln/>
        </p:spPr>
        <p:txBody>
          <a:bodyPr wrap="square" lIns="0" tIns="0" rIns="0" bIns="0" rtlCol="0" anchor="t"/>
          <a:lstStyle/>
          <a:p>
            <a:pPr marL="0" indent="0">
              <a:buNone/>
            </a:pPr>
            <a:r>
              <a:rPr lang="en-US" sz="1400" dirty="0">
                <a:solidFill>
                  <a:srgbClr val="A9B8C4"/>
                </a:solidFill>
                <a:latin typeface="Calibri" pitchFamily="34" charset="0"/>
                <a:ea typeface="Calibri" pitchFamily="34" charset="-122"/>
                <a:cs typeface="Calibri" pitchFamily="34" charset="-120"/>
              </a:rPr>
              <a:t>Drafts the $790 Serious Needs Assistance claim after the storm.</a:t>
            </a:r>
            <a:endParaRPr lang="en-US" sz="1400" dirty="0"/>
          </a:p>
        </p:txBody>
      </p:sp>
      <p:sp>
        <p:nvSpPr>
          <p:cNvPr id="20" name="Text 13"/>
          <p:cNvSpPr txBox="1"/>
          <p:nvPr/>
        </p:nvSpPr>
        <p:spPr>
          <a:xfrm>
            <a:off x="548640" y="6263640"/>
            <a:ext cx="11094415" cy="274320"/>
          </a:xfrm>
          <a:prstGeom prst="rect">
            <a:avLst/>
          </a:prstGeom>
          <a:noFill/>
          <a:ln/>
        </p:spPr>
        <p:txBody>
          <a:bodyPr wrap="square" lIns="0" tIns="0" rIns="0" bIns="0" rtlCol="0" anchor="ctr"/>
          <a:lstStyle/>
          <a:p>
            <a:pPr marL="0" indent="0">
              <a:buNone/>
            </a:pPr>
            <a:r>
              <a:rPr lang="en-US" sz="1000" dirty="0">
                <a:solidFill>
                  <a:srgbClr val="A9B8C4"/>
                </a:solidFill>
                <a:latin typeface="Calibri" pitchFamily="34" charset="0"/>
                <a:ea typeface="Calibri" pitchFamily="34" charset="-122"/>
                <a:cs typeface="Calibri" pitchFamily="34" charset="-120"/>
              </a:rPr>
              <a:t>Sources: Sarasota County via WGCU · AAA Florida survey, 2022 · FEMA, 2025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548640" y="868680"/>
            <a:ext cx="11094415" cy="914400"/>
          </a:xfrm>
          <a:prstGeom prst="rect">
            <a:avLst/>
          </a:prstGeom>
          <a:noFill/>
          <a:ln/>
        </p:spPr>
        <p:txBody>
          <a:bodyPr wrap="square" lIns="0" tIns="0" rIns="0" bIns="0" rtlCol="0" anchor="t"/>
          <a:lstStyle/>
          <a:p>
            <a:pPr marL="0" indent="0" algn="l">
              <a:buNone/>
            </a:pPr>
            <a:r>
              <a:rPr lang="en-US" sz="4000" dirty="0">
                <a:solidFill>
                  <a:srgbClr val="EFEBE3"/>
                </a:solidFill>
                <a:latin typeface="Cambria" pitchFamily="34" charset="0"/>
                <a:ea typeface="Cambria" pitchFamily="34" charset="-122"/>
                <a:cs typeface="Cambria" pitchFamily="34" charset="-120"/>
              </a:rPr>
              <a:t>Everyone else shows up </a:t>
            </a:r>
            <a:r>
              <a:rPr lang="en-US" sz="4000" i="1" dirty="0">
                <a:solidFill>
                  <a:srgbClr val="FF5B2E"/>
                </a:solidFill>
                <a:latin typeface="Cambria" pitchFamily="34" charset="0"/>
                <a:ea typeface="Cambria" pitchFamily="34" charset="-122"/>
                <a:cs typeface="Cambria" pitchFamily="34" charset="-120"/>
              </a:rPr>
              <a:t>after.</a:t>
            </a:r>
            <a:endParaRPr lang="en-US" sz="4000" dirty="0"/>
          </a:p>
        </p:txBody>
      </p:sp>
      <p:sp>
        <p:nvSpPr>
          <p:cNvPr id="3" name="Shape 1"/>
          <p:cNvSpPr/>
          <p:nvPr/>
        </p:nvSpPr>
        <p:spPr>
          <a:xfrm>
            <a:off x="2514600" y="2103120"/>
            <a:ext cx="4480560" cy="1463040"/>
          </a:xfrm>
          <a:prstGeom prst="roundRect">
            <a:avLst>
              <a:gd name="adj" fmla="val 5000"/>
            </a:avLst>
          </a:prstGeom>
          <a:solidFill>
            <a:srgbClr val="0B1D2A"/>
          </a:solidFill>
          <a:ln w="12700">
            <a:solidFill>
              <a:srgbClr val="2C445A"/>
            </a:solidFill>
            <a:prstDash val="solid"/>
          </a:ln>
        </p:spPr>
        <p:txBody>
          <a:bodyPr/>
          <a:lstStyle/>
          <a:p>
            <a:endParaRPr lang="en-US"/>
          </a:p>
        </p:txBody>
      </p:sp>
      <p:sp>
        <p:nvSpPr>
          <p:cNvPr id="4" name="Text 2"/>
          <p:cNvSpPr txBox="1"/>
          <p:nvPr/>
        </p:nvSpPr>
        <p:spPr>
          <a:xfrm>
            <a:off x="2788920" y="2377440"/>
            <a:ext cx="3931920" cy="548640"/>
          </a:xfrm>
          <a:prstGeom prst="rect">
            <a:avLst/>
          </a:prstGeom>
          <a:noFill/>
          <a:ln/>
        </p:spPr>
        <p:txBody>
          <a:bodyPr wrap="square" lIns="0" tIns="0" rIns="0" bIns="0" rtlCol="0" anchor="ctr"/>
          <a:lstStyle/>
          <a:p>
            <a:pPr marL="0" indent="0">
              <a:buNone/>
            </a:pPr>
            <a:r>
              <a:rPr lang="en-US" sz="2600" dirty="0">
                <a:solidFill>
                  <a:srgbClr val="EFEBE3"/>
                </a:solidFill>
                <a:latin typeface="Cambria" pitchFamily="34" charset="0"/>
                <a:ea typeface="Cambria" pitchFamily="34" charset="-122"/>
                <a:cs typeface="Cambria" pitchFamily="34" charset="-120"/>
              </a:rPr>
              <a:t>Parametric insurance</a:t>
            </a:r>
            <a:endParaRPr lang="en-US" sz="2600" dirty="0"/>
          </a:p>
        </p:txBody>
      </p:sp>
      <p:sp>
        <p:nvSpPr>
          <p:cNvPr id="5" name="Text 3"/>
          <p:cNvSpPr txBox="1"/>
          <p:nvPr/>
        </p:nvSpPr>
        <p:spPr>
          <a:xfrm>
            <a:off x="2788920" y="2971800"/>
            <a:ext cx="3931920" cy="365760"/>
          </a:xfrm>
          <a:prstGeom prst="rect">
            <a:avLst/>
          </a:prstGeom>
          <a:noFill/>
          <a:ln/>
        </p:spPr>
        <p:txBody>
          <a:bodyPr wrap="square" lIns="0" tIns="0" rIns="0" bIns="0" rtlCol="0" anchor="t"/>
          <a:lstStyle/>
          <a:p>
            <a:pPr marL="0" indent="0">
              <a:buNone/>
            </a:pPr>
            <a:r>
              <a:rPr lang="en-US" sz="1400" dirty="0">
                <a:solidFill>
                  <a:srgbClr val="A9B8C4"/>
                </a:solidFill>
                <a:latin typeface="Calibri" pitchFamily="34" charset="0"/>
                <a:ea typeface="Calibri" pitchFamily="34" charset="-122"/>
                <a:cs typeface="Calibri" pitchFamily="34" charset="-120"/>
              </a:rPr>
              <a:t>Automatic, but pays after the event</a:t>
            </a:r>
            <a:endParaRPr lang="en-US" sz="1400" dirty="0"/>
          </a:p>
        </p:txBody>
      </p:sp>
      <p:sp>
        <p:nvSpPr>
          <p:cNvPr id="6" name="Shape 4"/>
          <p:cNvSpPr/>
          <p:nvPr/>
        </p:nvSpPr>
        <p:spPr>
          <a:xfrm>
            <a:off x="7178040" y="2103120"/>
            <a:ext cx="4480560" cy="1463040"/>
          </a:xfrm>
          <a:prstGeom prst="roundRect">
            <a:avLst>
              <a:gd name="adj" fmla="val 5000"/>
            </a:avLst>
          </a:prstGeom>
          <a:solidFill>
            <a:srgbClr val="FF5B2E"/>
          </a:solidFill>
          <a:ln/>
        </p:spPr>
        <p:txBody>
          <a:bodyPr/>
          <a:lstStyle/>
          <a:p>
            <a:endParaRPr lang="en-US"/>
          </a:p>
        </p:txBody>
      </p:sp>
      <p:sp>
        <p:nvSpPr>
          <p:cNvPr id="7" name="Text 5"/>
          <p:cNvSpPr txBox="1"/>
          <p:nvPr/>
        </p:nvSpPr>
        <p:spPr>
          <a:xfrm>
            <a:off x="7452360" y="2377440"/>
            <a:ext cx="3931920" cy="548640"/>
          </a:xfrm>
          <a:prstGeom prst="rect">
            <a:avLst/>
          </a:prstGeom>
          <a:noFill/>
          <a:ln/>
        </p:spPr>
        <p:txBody>
          <a:bodyPr wrap="square" lIns="0" tIns="0" rIns="0" bIns="0" rtlCol="0" anchor="ctr"/>
          <a:lstStyle/>
          <a:p>
            <a:pPr marL="0" indent="0">
              <a:buNone/>
            </a:pPr>
            <a:r>
              <a:rPr lang="en-US" sz="3400" dirty="0">
                <a:solidFill>
                  <a:srgbClr val="0B1D2A"/>
                </a:solidFill>
                <a:latin typeface="Cambria" pitchFamily="34" charset="0"/>
                <a:ea typeface="Cambria" pitchFamily="34" charset="-122"/>
                <a:cs typeface="Cambria" pitchFamily="34" charset="-120"/>
              </a:rPr>
              <a:t>harbor</a:t>
            </a:r>
            <a:endParaRPr lang="en-US" sz="3400" dirty="0"/>
          </a:p>
        </p:txBody>
      </p:sp>
      <p:sp>
        <p:nvSpPr>
          <p:cNvPr id="8" name="Text 6"/>
          <p:cNvSpPr txBox="1"/>
          <p:nvPr/>
        </p:nvSpPr>
        <p:spPr>
          <a:xfrm>
            <a:off x="7452360" y="2971800"/>
            <a:ext cx="3931920" cy="365760"/>
          </a:xfrm>
          <a:prstGeom prst="rect">
            <a:avLst/>
          </a:prstGeom>
          <a:noFill/>
          <a:ln/>
        </p:spPr>
        <p:txBody>
          <a:bodyPr wrap="square" lIns="0" tIns="0" rIns="0" bIns="0" rtlCol="0" anchor="t"/>
          <a:lstStyle/>
          <a:p>
            <a:pPr marL="0" indent="0">
              <a:buNone/>
            </a:pPr>
            <a:r>
              <a:rPr lang="en-US" sz="1400" dirty="0">
                <a:solidFill>
                  <a:srgbClr val="0B1D2A"/>
                </a:solidFill>
                <a:latin typeface="Calibri" pitchFamily="34" charset="0"/>
                <a:ea typeface="Calibri" pitchFamily="34" charset="-122"/>
                <a:cs typeface="Calibri" pitchFamily="34" charset="-120"/>
              </a:rPr>
              <a:t>Before landfall, automatic once approved</a:t>
            </a:r>
            <a:endParaRPr lang="en-US" sz="1400" dirty="0"/>
          </a:p>
        </p:txBody>
      </p:sp>
      <p:sp>
        <p:nvSpPr>
          <p:cNvPr id="9" name="Shape 7"/>
          <p:cNvSpPr/>
          <p:nvPr/>
        </p:nvSpPr>
        <p:spPr>
          <a:xfrm>
            <a:off x="2514600" y="3749040"/>
            <a:ext cx="4480560" cy="1463040"/>
          </a:xfrm>
          <a:prstGeom prst="roundRect">
            <a:avLst>
              <a:gd name="adj" fmla="val 5000"/>
            </a:avLst>
          </a:prstGeom>
          <a:solidFill>
            <a:srgbClr val="0B1D2A"/>
          </a:solidFill>
          <a:ln w="12700">
            <a:solidFill>
              <a:srgbClr val="2C445A"/>
            </a:solidFill>
            <a:prstDash val="solid"/>
          </a:ln>
        </p:spPr>
        <p:txBody>
          <a:bodyPr/>
          <a:lstStyle/>
          <a:p>
            <a:endParaRPr lang="en-US"/>
          </a:p>
        </p:txBody>
      </p:sp>
      <p:sp>
        <p:nvSpPr>
          <p:cNvPr id="10" name="Text 8"/>
          <p:cNvSpPr txBox="1"/>
          <p:nvPr/>
        </p:nvSpPr>
        <p:spPr>
          <a:xfrm>
            <a:off x="2788920" y="4023360"/>
            <a:ext cx="3931920" cy="548640"/>
          </a:xfrm>
          <a:prstGeom prst="rect">
            <a:avLst/>
          </a:prstGeom>
          <a:noFill/>
          <a:ln/>
        </p:spPr>
        <p:txBody>
          <a:bodyPr wrap="square" lIns="0" tIns="0" rIns="0" bIns="0" rtlCol="0" anchor="ctr"/>
          <a:lstStyle/>
          <a:p>
            <a:pPr marL="0" indent="0">
              <a:buNone/>
            </a:pPr>
            <a:r>
              <a:rPr lang="en-US" sz="2600" dirty="0">
                <a:solidFill>
                  <a:srgbClr val="EFEBE3"/>
                </a:solidFill>
                <a:latin typeface="Cambria" pitchFamily="34" charset="0"/>
                <a:ea typeface="Cambria" pitchFamily="34" charset="-122"/>
                <a:cs typeface="Cambria" pitchFamily="34" charset="-120"/>
              </a:rPr>
              <a:t>FEMA aid, credit cards</a:t>
            </a:r>
            <a:endParaRPr lang="en-US" sz="2600" dirty="0"/>
          </a:p>
        </p:txBody>
      </p:sp>
      <p:sp>
        <p:nvSpPr>
          <p:cNvPr id="11" name="Text 9"/>
          <p:cNvSpPr txBox="1"/>
          <p:nvPr/>
        </p:nvSpPr>
        <p:spPr>
          <a:xfrm>
            <a:off x="2788920" y="4617720"/>
            <a:ext cx="3931920" cy="365760"/>
          </a:xfrm>
          <a:prstGeom prst="rect">
            <a:avLst/>
          </a:prstGeom>
          <a:noFill/>
          <a:ln/>
        </p:spPr>
        <p:txBody>
          <a:bodyPr wrap="square" lIns="0" tIns="0" rIns="0" bIns="0" rtlCol="0" anchor="t"/>
          <a:lstStyle/>
          <a:p>
            <a:pPr marL="0" indent="0">
              <a:buNone/>
            </a:pPr>
            <a:r>
              <a:rPr lang="en-US" sz="1400" dirty="0">
                <a:solidFill>
                  <a:srgbClr val="A9B8C4"/>
                </a:solidFill>
                <a:latin typeface="Calibri" pitchFamily="34" charset="0"/>
                <a:ea typeface="Calibri" pitchFamily="34" charset="-122"/>
                <a:cs typeface="Calibri" pitchFamily="34" charset="-120"/>
              </a:rPr>
              <a:t>You apply, or you take on debt</a:t>
            </a:r>
            <a:endParaRPr lang="en-US" sz="1400" dirty="0"/>
          </a:p>
        </p:txBody>
      </p:sp>
      <p:sp>
        <p:nvSpPr>
          <p:cNvPr id="12" name="Shape 10"/>
          <p:cNvSpPr/>
          <p:nvPr/>
        </p:nvSpPr>
        <p:spPr>
          <a:xfrm>
            <a:off x="7178040" y="3749040"/>
            <a:ext cx="4480560" cy="1463040"/>
          </a:xfrm>
          <a:prstGeom prst="roundRect">
            <a:avLst>
              <a:gd name="adj" fmla="val 5000"/>
            </a:avLst>
          </a:prstGeom>
          <a:solidFill>
            <a:srgbClr val="0B1D2A"/>
          </a:solidFill>
          <a:ln w="12700">
            <a:solidFill>
              <a:srgbClr val="2C445A"/>
            </a:solidFill>
            <a:prstDash val="solid"/>
          </a:ln>
        </p:spPr>
        <p:txBody>
          <a:bodyPr/>
          <a:lstStyle/>
          <a:p>
            <a:endParaRPr lang="en-US"/>
          </a:p>
        </p:txBody>
      </p:sp>
      <p:sp>
        <p:nvSpPr>
          <p:cNvPr id="13" name="Text 11"/>
          <p:cNvSpPr txBox="1"/>
          <p:nvPr/>
        </p:nvSpPr>
        <p:spPr>
          <a:xfrm>
            <a:off x="7452360" y="4023360"/>
            <a:ext cx="3931920" cy="548640"/>
          </a:xfrm>
          <a:prstGeom prst="rect">
            <a:avLst/>
          </a:prstGeom>
          <a:noFill/>
          <a:ln/>
        </p:spPr>
        <p:txBody>
          <a:bodyPr wrap="square" lIns="0" tIns="0" rIns="0" bIns="0" rtlCol="0" anchor="ctr"/>
          <a:lstStyle/>
          <a:p>
            <a:pPr marL="0" indent="0">
              <a:buNone/>
            </a:pPr>
            <a:r>
              <a:rPr lang="en-US" sz="2600" dirty="0">
                <a:solidFill>
                  <a:srgbClr val="EFEBE3"/>
                </a:solidFill>
                <a:latin typeface="Cambria" pitchFamily="34" charset="0"/>
                <a:ea typeface="Cambria" pitchFamily="34" charset="-122"/>
                <a:cs typeface="Cambria" pitchFamily="34" charset="-120"/>
              </a:rPr>
              <a:t>Bank tips, savings apps</a:t>
            </a:r>
            <a:endParaRPr lang="en-US" sz="2600" dirty="0"/>
          </a:p>
        </p:txBody>
      </p:sp>
      <p:sp>
        <p:nvSpPr>
          <p:cNvPr id="14" name="Text 12"/>
          <p:cNvSpPr txBox="1"/>
          <p:nvPr/>
        </p:nvSpPr>
        <p:spPr>
          <a:xfrm>
            <a:off x="7452360" y="4617720"/>
            <a:ext cx="3931920" cy="365760"/>
          </a:xfrm>
          <a:prstGeom prst="rect">
            <a:avLst/>
          </a:prstGeom>
          <a:noFill/>
          <a:ln/>
        </p:spPr>
        <p:txBody>
          <a:bodyPr wrap="square" lIns="0" tIns="0" rIns="0" bIns="0" rtlCol="0" anchor="t"/>
          <a:lstStyle/>
          <a:p>
            <a:pPr marL="0" indent="0">
              <a:buNone/>
            </a:pPr>
            <a:r>
              <a:rPr lang="en-US" sz="1400" dirty="0">
                <a:solidFill>
                  <a:srgbClr val="A9B8C4"/>
                </a:solidFill>
                <a:latin typeface="Calibri" pitchFamily="34" charset="0"/>
                <a:ea typeface="Calibri" pitchFamily="34" charset="-122"/>
                <a:cs typeface="Calibri" pitchFamily="34" charset="-120"/>
              </a:rPr>
              <a:t>Early, but the customer has to act</a:t>
            </a:r>
            <a:endParaRPr lang="en-US" sz="1400" dirty="0"/>
          </a:p>
        </p:txBody>
      </p:sp>
      <p:sp>
        <p:nvSpPr>
          <p:cNvPr id="15" name="Text 13"/>
          <p:cNvSpPr txBox="1"/>
          <p:nvPr/>
        </p:nvSpPr>
        <p:spPr>
          <a:xfrm>
            <a:off x="548640" y="2103120"/>
            <a:ext cx="1783080" cy="1463040"/>
          </a:xfrm>
          <a:prstGeom prst="rect">
            <a:avLst/>
          </a:prstGeom>
          <a:noFill/>
          <a:ln/>
        </p:spPr>
        <p:txBody>
          <a:bodyPr wrap="square" lIns="0" tIns="0" rIns="0" bIns="0" rtlCol="0" anchor="ctr"/>
          <a:lstStyle/>
          <a:p>
            <a:pPr marL="0" indent="0" algn="r">
              <a:buNone/>
            </a:pPr>
            <a:r>
              <a:rPr lang="en-US" sz="1400" dirty="0">
                <a:solidFill>
                  <a:srgbClr val="A9B8C4"/>
                </a:solidFill>
                <a:latin typeface="Calibri" pitchFamily="34" charset="0"/>
                <a:ea typeface="Calibri" pitchFamily="34" charset="-122"/>
                <a:cs typeface="Calibri" pitchFamily="34" charset="-120"/>
              </a:rPr>
              <a:t>Automatic</a:t>
            </a:r>
            <a:endParaRPr lang="en-US" sz="1400" dirty="0"/>
          </a:p>
        </p:txBody>
      </p:sp>
      <p:sp>
        <p:nvSpPr>
          <p:cNvPr id="16" name="Text 14"/>
          <p:cNvSpPr txBox="1"/>
          <p:nvPr/>
        </p:nvSpPr>
        <p:spPr>
          <a:xfrm>
            <a:off x="548640" y="3749040"/>
            <a:ext cx="1783080" cy="1463040"/>
          </a:xfrm>
          <a:prstGeom prst="rect">
            <a:avLst/>
          </a:prstGeom>
          <a:noFill/>
          <a:ln/>
        </p:spPr>
        <p:txBody>
          <a:bodyPr wrap="square" lIns="0" tIns="0" rIns="0" bIns="0" rtlCol="0" anchor="ctr"/>
          <a:lstStyle/>
          <a:p>
            <a:pPr marL="0" indent="0" algn="r">
              <a:buNone/>
            </a:pPr>
            <a:r>
              <a:rPr lang="en-US" sz="1400" dirty="0">
                <a:solidFill>
                  <a:srgbClr val="A9B8C4"/>
                </a:solidFill>
                <a:latin typeface="Calibri" pitchFamily="34" charset="0"/>
                <a:ea typeface="Calibri" pitchFamily="34" charset="-122"/>
                <a:cs typeface="Calibri" pitchFamily="34" charset="-120"/>
              </a:rPr>
              <a:t>Manual</a:t>
            </a:r>
            <a:endParaRPr lang="en-US" sz="1400" dirty="0"/>
          </a:p>
        </p:txBody>
      </p:sp>
      <p:sp>
        <p:nvSpPr>
          <p:cNvPr id="17" name="Text 15"/>
          <p:cNvSpPr txBox="1"/>
          <p:nvPr/>
        </p:nvSpPr>
        <p:spPr>
          <a:xfrm>
            <a:off x="2514600" y="5394960"/>
            <a:ext cx="4480560" cy="320040"/>
          </a:xfrm>
          <a:prstGeom prst="rect">
            <a:avLst/>
          </a:prstGeom>
          <a:noFill/>
          <a:ln/>
        </p:spPr>
        <p:txBody>
          <a:bodyPr wrap="square" lIns="0" tIns="0" rIns="0" bIns="0" rtlCol="0" anchor="ctr"/>
          <a:lstStyle/>
          <a:p>
            <a:pPr marL="0" indent="0" algn="ctr">
              <a:buNone/>
            </a:pPr>
            <a:r>
              <a:rPr lang="en-US" sz="1400" dirty="0">
                <a:solidFill>
                  <a:srgbClr val="A9B8C4"/>
                </a:solidFill>
                <a:latin typeface="Calibri" pitchFamily="34" charset="0"/>
                <a:ea typeface="Calibri" pitchFamily="34" charset="-122"/>
                <a:cs typeface="Calibri" pitchFamily="34" charset="-120"/>
              </a:rPr>
              <a:t>After the storm</a:t>
            </a:r>
            <a:endParaRPr lang="en-US" sz="1400" dirty="0"/>
          </a:p>
        </p:txBody>
      </p:sp>
      <p:sp>
        <p:nvSpPr>
          <p:cNvPr id="18" name="Text 16"/>
          <p:cNvSpPr txBox="1"/>
          <p:nvPr/>
        </p:nvSpPr>
        <p:spPr>
          <a:xfrm>
            <a:off x="7178040" y="5394960"/>
            <a:ext cx="4480560" cy="320040"/>
          </a:xfrm>
          <a:prstGeom prst="rect">
            <a:avLst/>
          </a:prstGeom>
          <a:noFill/>
          <a:ln/>
        </p:spPr>
        <p:txBody>
          <a:bodyPr wrap="square" lIns="0" tIns="0" rIns="0" bIns="0" rtlCol="0" anchor="ctr"/>
          <a:lstStyle/>
          <a:p>
            <a:pPr marL="0" indent="0" algn="ctr">
              <a:buNone/>
            </a:pPr>
            <a:r>
              <a:rPr lang="en-US" sz="1400" b="1" dirty="0">
                <a:solidFill>
                  <a:srgbClr val="FF5B2E"/>
                </a:solidFill>
                <a:latin typeface="Calibri" pitchFamily="34" charset="0"/>
                <a:ea typeface="Calibri" pitchFamily="34" charset="-122"/>
                <a:cs typeface="Calibri" pitchFamily="34" charset="-120"/>
              </a:rPr>
              <a:t>Before landfall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urricane Ian covering Florida and the Southeast coast, seen by the GOES satellite"/>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1D2A">
              <a:alpha val="65000"/>
            </a:srgbClr>
          </a:solidFill>
          <a:ln/>
        </p:spPr>
        <p:txBody>
          <a:bodyPr/>
          <a:lstStyle/>
          <a:p>
            <a:endParaRPr lang="en-US"/>
          </a:p>
        </p:txBody>
      </p:sp>
      <p:pic>
        <p:nvPicPr>
          <p:cNvPr id="4" name="Image 1" descr="Harbor logo"/>
          <p:cNvPicPr>
            <a:picLocks noChangeAspect="1"/>
          </p:cNvPicPr>
          <p:nvPr/>
        </p:nvPicPr>
        <p:blipFill>
          <a:blip r:embed="rId4"/>
          <a:stretch>
            <a:fillRect/>
          </a:stretch>
        </p:blipFill>
        <p:spPr>
          <a:xfrm>
            <a:off x="548640" y="384048"/>
            <a:ext cx="237744" cy="237744"/>
          </a:xfrm>
          <a:prstGeom prst="rect">
            <a:avLst/>
          </a:prstGeom>
        </p:spPr>
      </p:pic>
      <p:sp>
        <p:nvSpPr>
          <p:cNvPr id="5" name="Text 1"/>
          <p:cNvSpPr txBox="1"/>
          <p:nvPr/>
        </p:nvSpPr>
        <p:spPr>
          <a:xfrm>
            <a:off x="859536" y="365760"/>
            <a:ext cx="1371600" cy="274320"/>
          </a:xfrm>
          <a:prstGeom prst="rect">
            <a:avLst/>
          </a:prstGeom>
          <a:noFill/>
          <a:ln/>
        </p:spPr>
        <p:txBody>
          <a:bodyPr wrap="square" lIns="0" tIns="0" rIns="0" bIns="0" rtlCol="0" anchor="ctr"/>
          <a:lstStyle/>
          <a:p>
            <a:pPr marL="0" indent="0">
              <a:buNone/>
            </a:pPr>
            <a:r>
              <a:rPr lang="en-US" sz="1300" dirty="0">
                <a:solidFill>
                  <a:srgbClr val="EFEBE3"/>
                </a:solidFill>
                <a:latin typeface="Calibri" pitchFamily="34" charset="0"/>
                <a:ea typeface="Calibri" pitchFamily="34" charset="-122"/>
                <a:cs typeface="Calibri" pitchFamily="34" charset="-120"/>
              </a:rPr>
              <a:t>harbor</a:t>
            </a:r>
            <a:endParaRPr lang="en-US" sz="1300" dirty="0"/>
          </a:p>
        </p:txBody>
      </p:sp>
      <p:sp>
        <p:nvSpPr>
          <p:cNvPr id="6" name="Text 0"/>
          <p:cNvSpPr>
            <a:spLocks noGrp="1"/>
          </p:cNvSpPr>
          <p:nvPr>
            <p:ph type="title" idx="100" hasCustomPrompt="1"/>
          </p:nvPr>
        </p:nvSpPr>
        <p:spPr>
          <a:xfrm>
            <a:off x="548640" y="868680"/>
            <a:ext cx="11094415" cy="914400"/>
          </a:xfrm>
          <a:prstGeom prst="rect">
            <a:avLst/>
          </a:prstGeom>
          <a:noFill/>
          <a:ln/>
        </p:spPr>
        <p:txBody>
          <a:bodyPr wrap="square" lIns="0" tIns="0" rIns="0" bIns="0" rtlCol="0" anchor="t"/>
          <a:lstStyle/>
          <a:p>
            <a:pPr marL="0" indent="0" algn="l">
              <a:buNone/>
            </a:pPr>
            <a:r>
              <a:rPr lang="en-US" sz="4000" dirty="0">
                <a:solidFill>
                  <a:srgbClr val="EFEBE3"/>
                </a:solidFill>
                <a:latin typeface="Cambria" pitchFamily="34" charset="0"/>
                <a:ea typeface="Cambria" pitchFamily="34" charset="-122"/>
                <a:cs typeface="Cambria" pitchFamily="34" charset="-120"/>
              </a:rPr>
              <a:t>A $720M market. </a:t>
            </a:r>
            <a:r>
              <a:rPr lang="en-US" sz="4000" i="1" dirty="0">
                <a:solidFill>
                  <a:srgbClr val="FF5B2E"/>
                </a:solidFill>
                <a:latin typeface="Cambria" pitchFamily="34" charset="0"/>
                <a:ea typeface="Cambria" pitchFamily="34" charset="-122"/>
                <a:cs typeface="Cambria" pitchFamily="34" charset="-120"/>
              </a:rPr>
              <a:t>Paid by banks.</a:t>
            </a:r>
            <a:endParaRPr lang="en-US" sz="4000" dirty="0"/>
          </a:p>
        </p:txBody>
      </p:sp>
      <p:sp>
        <p:nvSpPr>
          <p:cNvPr id="7" name="Text 3"/>
          <p:cNvSpPr txBox="1"/>
          <p:nvPr/>
        </p:nvSpPr>
        <p:spPr>
          <a:xfrm>
            <a:off x="548640" y="3566160"/>
            <a:ext cx="3383280" cy="1097280"/>
          </a:xfrm>
          <a:prstGeom prst="rect">
            <a:avLst/>
          </a:prstGeom>
          <a:noFill/>
          <a:ln/>
        </p:spPr>
        <p:txBody>
          <a:bodyPr wrap="square" lIns="0" tIns="0" rIns="0" bIns="0" rtlCol="0" anchor="t"/>
          <a:lstStyle/>
          <a:p>
            <a:pPr marL="0" indent="0">
              <a:buNone/>
            </a:pPr>
            <a:r>
              <a:rPr lang="en-US" sz="7200" dirty="0">
                <a:solidFill>
                  <a:srgbClr val="EFEBE3"/>
                </a:solidFill>
                <a:latin typeface="Cambria" pitchFamily="34" charset="0"/>
                <a:ea typeface="Cambria" pitchFamily="34" charset="-122"/>
                <a:cs typeface="Cambria" pitchFamily="34" charset="-120"/>
              </a:rPr>
              <a:t>$720M</a:t>
            </a:r>
            <a:endParaRPr lang="en-US" sz="7200" dirty="0"/>
          </a:p>
        </p:txBody>
      </p:sp>
      <p:sp>
        <p:nvSpPr>
          <p:cNvPr id="8" name="Text 4"/>
          <p:cNvSpPr txBox="1"/>
          <p:nvPr/>
        </p:nvSpPr>
        <p:spPr>
          <a:xfrm>
            <a:off x="548640" y="4754880"/>
            <a:ext cx="3383280" cy="320040"/>
          </a:xfrm>
          <a:prstGeom prst="rect">
            <a:avLst/>
          </a:prstGeom>
          <a:noFill/>
          <a:ln/>
        </p:spPr>
        <p:txBody>
          <a:bodyPr wrap="square" lIns="0" tIns="0" rIns="0" bIns="0" rtlCol="0" anchor="t"/>
          <a:lstStyle/>
          <a:p>
            <a:pPr marL="0" indent="0">
              <a:buNone/>
            </a:pPr>
            <a:r>
              <a:rPr lang="en-US" sz="1600" b="1" dirty="0">
                <a:solidFill>
                  <a:srgbClr val="EFEBE3"/>
                </a:solidFill>
                <a:latin typeface="Calibri" pitchFamily="34" charset="0"/>
                <a:ea typeface="Calibri" pitchFamily="34" charset="-122"/>
                <a:cs typeface="Calibri" pitchFamily="34" charset="-120"/>
              </a:rPr>
              <a:t>TAM</a:t>
            </a:r>
            <a:endParaRPr lang="en-US" sz="1600" dirty="0"/>
          </a:p>
        </p:txBody>
      </p:sp>
      <p:sp>
        <p:nvSpPr>
          <p:cNvPr id="9" name="Text 5"/>
          <p:cNvSpPr txBox="1"/>
          <p:nvPr/>
        </p:nvSpPr>
        <p:spPr>
          <a:xfrm>
            <a:off x="548640" y="5074920"/>
            <a:ext cx="3383280" cy="365760"/>
          </a:xfrm>
          <a:prstGeom prst="rect">
            <a:avLst/>
          </a:prstGeom>
          <a:noFill/>
          <a:ln/>
        </p:spPr>
        <p:txBody>
          <a:bodyPr wrap="square" lIns="0" tIns="0" rIns="0" bIns="0" rtlCol="0" anchor="t"/>
          <a:lstStyle/>
          <a:p>
            <a:pPr marL="0" indent="0">
              <a:buNone/>
            </a:pPr>
            <a:r>
              <a:rPr lang="en-US" sz="1500" dirty="0">
                <a:solidFill>
                  <a:srgbClr val="A9B8C4"/>
                </a:solidFill>
                <a:latin typeface="Calibri" pitchFamily="34" charset="0"/>
                <a:ea typeface="Calibri" pitchFamily="34" charset="-122"/>
                <a:cs typeface="Calibri" pitchFamily="34" charset="-120"/>
              </a:rPr>
              <a:t>60M coastal residents</a:t>
            </a:r>
            <a:endParaRPr lang="en-US" sz="1500" dirty="0"/>
          </a:p>
        </p:txBody>
      </p:sp>
      <p:sp>
        <p:nvSpPr>
          <p:cNvPr id="10" name="Text 6"/>
          <p:cNvSpPr txBox="1"/>
          <p:nvPr/>
        </p:nvSpPr>
        <p:spPr>
          <a:xfrm>
            <a:off x="4403750" y="3566160"/>
            <a:ext cx="3383280" cy="1097280"/>
          </a:xfrm>
          <a:prstGeom prst="rect">
            <a:avLst/>
          </a:prstGeom>
          <a:noFill/>
          <a:ln/>
        </p:spPr>
        <p:txBody>
          <a:bodyPr wrap="square" lIns="0" tIns="0" rIns="0" bIns="0" rtlCol="0" anchor="t"/>
          <a:lstStyle/>
          <a:p>
            <a:pPr marL="0" indent="0">
              <a:buNone/>
            </a:pPr>
            <a:r>
              <a:rPr lang="en-US" sz="7200" dirty="0">
                <a:solidFill>
                  <a:srgbClr val="EFEBE3"/>
                </a:solidFill>
                <a:latin typeface="Cambria" pitchFamily="34" charset="0"/>
                <a:ea typeface="Cambria" pitchFamily="34" charset="-122"/>
                <a:cs typeface="Cambria" pitchFamily="34" charset="-120"/>
              </a:rPr>
              <a:t>$40M</a:t>
            </a:r>
            <a:endParaRPr lang="en-US" sz="7200" dirty="0"/>
          </a:p>
        </p:txBody>
      </p:sp>
      <p:sp>
        <p:nvSpPr>
          <p:cNvPr id="11" name="Text 7"/>
          <p:cNvSpPr txBox="1"/>
          <p:nvPr/>
        </p:nvSpPr>
        <p:spPr>
          <a:xfrm>
            <a:off x="4403750" y="4754880"/>
            <a:ext cx="3383280" cy="320040"/>
          </a:xfrm>
          <a:prstGeom prst="rect">
            <a:avLst/>
          </a:prstGeom>
          <a:noFill/>
          <a:ln/>
        </p:spPr>
        <p:txBody>
          <a:bodyPr wrap="square" lIns="0" tIns="0" rIns="0" bIns="0" rtlCol="0" anchor="t"/>
          <a:lstStyle/>
          <a:p>
            <a:pPr marL="0" indent="0">
              <a:buNone/>
            </a:pPr>
            <a:r>
              <a:rPr lang="en-US" sz="1600" b="1" dirty="0">
                <a:solidFill>
                  <a:srgbClr val="EFEBE3"/>
                </a:solidFill>
                <a:latin typeface="Calibri" pitchFamily="34" charset="0"/>
                <a:ea typeface="Calibri" pitchFamily="34" charset="-122"/>
                <a:cs typeface="Calibri" pitchFamily="34" charset="-120"/>
              </a:rPr>
              <a:t>SAM</a:t>
            </a:r>
            <a:endParaRPr lang="en-US" sz="1600" dirty="0"/>
          </a:p>
        </p:txBody>
      </p:sp>
      <p:sp>
        <p:nvSpPr>
          <p:cNvPr id="12" name="Text 8"/>
          <p:cNvSpPr txBox="1"/>
          <p:nvPr/>
        </p:nvSpPr>
        <p:spPr>
          <a:xfrm>
            <a:off x="4403750" y="5074920"/>
            <a:ext cx="3383280" cy="365760"/>
          </a:xfrm>
          <a:prstGeom prst="rect">
            <a:avLst/>
          </a:prstGeom>
          <a:noFill/>
          <a:ln/>
        </p:spPr>
        <p:txBody>
          <a:bodyPr wrap="square" lIns="0" tIns="0" rIns="0" bIns="0" rtlCol="0" anchor="t"/>
          <a:lstStyle/>
          <a:p>
            <a:pPr marL="0" indent="0">
              <a:buNone/>
            </a:pPr>
            <a:r>
              <a:rPr lang="en-US" sz="1500" dirty="0">
                <a:solidFill>
                  <a:srgbClr val="A9B8C4"/>
                </a:solidFill>
                <a:latin typeface="Calibri" pitchFamily="34" charset="0"/>
                <a:ea typeface="Calibri" pitchFamily="34" charset="-122"/>
                <a:cs typeface="Calibri" pitchFamily="34" charset="-120"/>
              </a:rPr>
              <a:t>3.3M adults displaced each year</a:t>
            </a:r>
            <a:endParaRPr lang="en-US" sz="1500" dirty="0"/>
          </a:p>
        </p:txBody>
      </p:sp>
      <p:sp>
        <p:nvSpPr>
          <p:cNvPr id="13" name="Text 9"/>
          <p:cNvSpPr txBox="1"/>
          <p:nvPr/>
        </p:nvSpPr>
        <p:spPr>
          <a:xfrm>
            <a:off x="8258861" y="3566160"/>
            <a:ext cx="3383280" cy="1097280"/>
          </a:xfrm>
          <a:prstGeom prst="rect">
            <a:avLst/>
          </a:prstGeom>
          <a:noFill/>
          <a:ln/>
        </p:spPr>
        <p:txBody>
          <a:bodyPr wrap="square" lIns="0" tIns="0" rIns="0" bIns="0" rtlCol="0" anchor="t"/>
          <a:lstStyle/>
          <a:p>
            <a:pPr marL="0" indent="0">
              <a:buNone/>
            </a:pPr>
            <a:r>
              <a:rPr lang="en-US" sz="7200" dirty="0">
                <a:solidFill>
                  <a:srgbClr val="FF5B2E"/>
                </a:solidFill>
                <a:latin typeface="Cambria" pitchFamily="34" charset="0"/>
                <a:ea typeface="Cambria" pitchFamily="34" charset="-122"/>
                <a:cs typeface="Cambria" pitchFamily="34" charset="-120"/>
              </a:rPr>
              <a:t>$12M</a:t>
            </a:r>
            <a:endParaRPr lang="en-US" sz="7200" dirty="0"/>
          </a:p>
        </p:txBody>
      </p:sp>
      <p:sp>
        <p:nvSpPr>
          <p:cNvPr id="14" name="Text 10"/>
          <p:cNvSpPr txBox="1"/>
          <p:nvPr/>
        </p:nvSpPr>
        <p:spPr>
          <a:xfrm>
            <a:off x="8258861" y="4754880"/>
            <a:ext cx="3383280" cy="320040"/>
          </a:xfrm>
          <a:prstGeom prst="rect">
            <a:avLst/>
          </a:prstGeom>
          <a:noFill/>
          <a:ln/>
        </p:spPr>
        <p:txBody>
          <a:bodyPr wrap="square" lIns="0" tIns="0" rIns="0" bIns="0" rtlCol="0" anchor="t"/>
          <a:lstStyle/>
          <a:p>
            <a:pPr marL="0" indent="0">
              <a:buNone/>
            </a:pPr>
            <a:r>
              <a:rPr lang="en-US" sz="1600" b="1" dirty="0">
                <a:solidFill>
                  <a:srgbClr val="EFEBE3"/>
                </a:solidFill>
                <a:latin typeface="Calibri" pitchFamily="34" charset="0"/>
                <a:ea typeface="Calibri" pitchFamily="34" charset="-122"/>
                <a:cs typeface="Calibri" pitchFamily="34" charset="-120"/>
              </a:rPr>
              <a:t>SOM</a:t>
            </a:r>
            <a:endParaRPr lang="en-US" sz="1600" dirty="0"/>
          </a:p>
        </p:txBody>
      </p:sp>
      <p:sp>
        <p:nvSpPr>
          <p:cNvPr id="15" name="Text 11"/>
          <p:cNvSpPr txBox="1"/>
          <p:nvPr/>
        </p:nvSpPr>
        <p:spPr>
          <a:xfrm>
            <a:off x="8258861" y="5074920"/>
            <a:ext cx="3383280" cy="365760"/>
          </a:xfrm>
          <a:prstGeom prst="rect">
            <a:avLst/>
          </a:prstGeom>
          <a:noFill/>
          <a:ln/>
        </p:spPr>
        <p:txBody>
          <a:bodyPr wrap="square" lIns="0" tIns="0" rIns="0" bIns="0" rtlCol="0" anchor="t"/>
          <a:lstStyle/>
          <a:p>
            <a:pPr marL="0" indent="0">
              <a:buNone/>
            </a:pPr>
            <a:r>
              <a:rPr lang="en-US" sz="1500" dirty="0">
                <a:solidFill>
                  <a:srgbClr val="A9B8C4"/>
                </a:solidFill>
                <a:latin typeface="Calibri" pitchFamily="34" charset="0"/>
                <a:ea typeface="Calibri" pitchFamily="34" charset="-122"/>
                <a:cs typeface="Calibri" pitchFamily="34" charset="-120"/>
              </a:rPr>
              <a:t>one bank partner, 1M coastal customers</a:t>
            </a:r>
            <a:endParaRPr lang="en-US" sz="1500" dirty="0"/>
          </a:p>
        </p:txBody>
      </p:sp>
      <p:sp>
        <p:nvSpPr>
          <p:cNvPr id="16" name="Text 12"/>
          <p:cNvSpPr txBox="1"/>
          <p:nvPr/>
        </p:nvSpPr>
        <p:spPr>
          <a:xfrm>
            <a:off x="548640" y="6263640"/>
            <a:ext cx="11094415" cy="274320"/>
          </a:xfrm>
          <a:prstGeom prst="rect">
            <a:avLst/>
          </a:prstGeom>
          <a:noFill/>
          <a:ln/>
        </p:spPr>
        <p:txBody>
          <a:bodyPr wrap="square" lIns="0" tIns="0" rIns="0" bIns="0" rtlCol="0" anchor="ctr"/>
          <a:lstStyle/>
          <a:p>
            <a:pPr marL="0" indent="0">
              <a:buNone/>
            </a:pPr>
            <a:r>
              <a:rPr lang="en-US" sz="1000" dirty="0">
                <a:solidFill>
                  <a:srgbClr val="A9B8C4"/>
                </a:solidFill>
                <a:latin typeface="Calibri" pitchFamily="34" charset="0"/>
                <a:ea typeface="Calibri" pitchFamily="34" charset="-122"/>
                <a:cs typeface="Calibri" pitchFamily="34" charset="-120"/>
              </a:rPr>
              <a:t>Harbor estimates at $1 per customer per month, paid by banks · US Census 2017, Household Pulse 2022</a:t>
            </a:r>
            <a:endParaRPr lang="en-US" sz="1000" dirty="0"/>
          </a:p>
        </p:txBody>
      </p:sp>
    </p:spTree>
  </p:cSld>
  <p:clrMapOvr>
    <a:masterClrMapping/>
  </p:clrMapOvr>
</p:sld>
</file>

<file path=ppt/theme/theme1.xml><?xml version="1.0" encoding="utf-8"?>
<a:theme xmlns:a="http://schemas.openxmlformats.org/drawingml/2006/main" name="Harbor">
  <a:themeElements>
    <a:clrScheme name="Harbor">
      <a:dk1>
        <a:srgbClr val="0B1D2A"/>
      </a:dk1>
      <a:lt1>
        <a:srgbClr val="FFFFFF"/>
      </a:lt1>
      <a:dk2>
        <a:srgbClr val="1B3142"/>
      </a:dk2>
      <a:lt2>
        <a:srgbClr val="EFEBE3"/>
      </a:lt2>
      <a:accent1>
        <a:srgbClr val="FF5B2E"/>
      </a:accent1>
      <a:accent2>
        <a:srgbClr val="D9431A"/>
      </a:accent2>
      <a:accent3>
        <a:srgbClr val="A9B8C4"/>
      </a:accent3>
      <a:accent4>
        <a:srgbClr val="4B5A66"/>
      </a:accent4>
      <a:accent5>
        <a:srgbClr val="2C445A"/>
      </a:accent5>
      <a:accent6>
        <a:srgbClr val="3A5266"/>
      </a:accent6>
      <a:hlink>
        <a:srgbClr val="FF5B2E"/>
      </a:hlink>
      <a:folHlink>
        <a:srgbClr val="D9431A"/>
      </a:folHlink>
    </a:clrScheme>
    <a:fontScheme name="Harb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1009</Words>
  <Application>Microsoft Office PowerPoint</Application>
  <PresentationFormat>Widescreen</PresentationFormat>
  <Paragraphs>85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Harbor</vt:lpstr>
      <vt:lpstr>PowerPoint Presentation</vt:lpstr>
      <vt:lpstr>How many people we can help.</vt:lpstr>
      <vt:lpstr>Built for every household.</vt:lpstr>
      <vt:lpstr>Money that moves with the forecast.</vt:lpstr>
      <vt:lpstr>No money? A free way out.</vt:lpstr>
      <vt:lpstr>Everyone else shows up after.</vt:lpstr>
      <vt:lpstr>A $720M market. Paid by banks.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Harbor</dc:title>
  <dc:subject>PptxGenJS Presentation</dc:subject>
  <dc:creator>PptxGenJS</dc:creator>
  <cp:lastModifiedBy>James Lenhard</cp:lastModifiedBy>
  <cp:revision>2</cp:revision>
  <dcterms:created xsi:type="dcterms:W3CDTF">2026-10-18T15:23:22Z</dcterms:created>
  <dcterms:modified xsi:type="dcterms:W3CDTF">2026-10-18T15:25:21Z</dcterms:modified>
</cp:coreProperties>
</file>