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Harbor reads hurricane forecasts for your ZIP code and gets your evacuation money ready days before the storm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a person, not a statistic. During Milton, hotel rooms beyond the storm’s path cost close to 1,000 dollars a night. One couple ended up in a tent outside Pensacola and still spent about 2,500 dollars. One in four Americans says they couldn’t afford to leave home for a few days at all, and research on Katrina found the people who stayed were mostly the most financially insecure.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The forecast cone gives about five days of notice. Evacuation orders come a few days out and prices jump. An investment sale settles a business day later, longer over a weekend. After landfall, ATMs and electronic banking can go down, as Congress heard after Hurricane Maria. The money exists; it just isn’t reachable in time. Harbor uses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Harbor watches the hurricane forecast for your ZIP code, prepares the cash by sizing your evacuation budget and putting it in reach with one tap, and returns everything after the all clear. The customer never has to remember to open an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live demo here, replaying Hurricane Milton’s real advisories. Screen one: the alert fires when Tampa enters the cone. Screen two: Harbor shows the plan: 600 dollars from savings to checking, 400 from ETF shares, 200 as cash. Nothing moves without approval and it never sells more than the budget. Screen three: cash is ready, with shelters and routes, and one tap undoes it after the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segments with three different jobs. Ready: 63 percent can cover a 400 dollar emergency with cash; Harbor makes sure it’s reachable in time. Stretched: 37 percent can’t, so Harbor builds a Storm Fund from round ups during hurricane season and moves bill dates out of the evacuation window. Can’t leave: 24 percent say they couldn’t afford to evacuate at all,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people with nothing to move, Harbor works on information and timing. It signs them up for free county evacuation buses before registration closes; Sarasota’s buses take pets but registration closes 60 hours before landfall. Thirty percent of Floridians who wouldn’t evacuate cite their pets, so Harbor routes to pet friendly and special needs shelters. Relatives can send money instantly to a family fund. After the storm, Harbor drafts FEMA’s Serious Needs Assistance, a one time 770 dollar payment. Sources: Sarasota County via WGCU, AAA Florida survey 2022, FEMA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real alternatives. FEMA aid and credit cards help after the storm, and you do the work: applications, or debt. Parametric insurance pays automatically, but only after the event. Bank storm tips and savings apps come before, but rely on the customer to act. Harbor is the only one in the top right: before landfall, and automatic once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at one dollar per customer per month, paid by bank partners, never by customers. Total: 60 million residents of Atlantic and Gulf coastal counties. Serviceable: 3.4 million adults displaced by disasters in a year. Obtainable: one bank partner with a million coastal customers. These dollar figures are our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gap. Forecasts already give people days of warning; Harbor makes sure their money can use that warning too. The ask is a pilot with one Gulf Coast bank before next hurricane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0B1D2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70" y="914400"/>
            <a:ext cx="10045730" cy="1015985"/>
          </a:xfrm>
          <a:prstGeom prst="rect">
            <a:avLst/>
          </a:prstGeom>
          <a:noFill/>
          <a:ln/>
        </p:spPr>
        <p:txBody>
          <a:bodyPr wrap="square" lIns="0" tIns="0" rIns="0" bIns="0" rtlCol="0" anchor="t"/>
          <a:lstStyle>
            <a:lvl1pPr algn="l" indent="0" marL="0">
              <a:lnSpc>
                <a:spcPct val="115000"/>
              </a:lnSpc>
              <a:buNone/>
              <a:defRPr lang="en-US" sz="5600" dirty="0">
                <a:solidFill>
                  <a:srgbClr val="EFEBE3"/>
                </a:solidFill>
                <a:latin typeface="Instrument Serif" pitchFamily="34" charset="0"/>
                <a:ea typeface="Instrument Serif" pitchFamily="34" charset="-122"/>
                <a:cs typeface="Instrument Serif" pitchFamily="34" charset="-120"/>
              </a:defRPr>
            </a:lvl1pPr>
          </a:lstStyle>
          <a:p>
            <a:pPr algn="l" indent="0" marL="0">
              <a:lnSpc>
                <a:spcPct val="115000"/>
              </a:lnSpc>
              <a:buNone/>
            </a:pPr>
            <a:endParaRPr lang="en-US" sz="5600" dirty="0"/>
          </a:p>
        </p:txBody>
      </p:sp>
      <p:sp>
        <p:nvSpPr>
          <p:cNvPr id="3" name="Text Placeholder 2"/>
          <p:cNvSpPr/>
          <p:nvPr>
            <p:ph idx="101" type="body"/>
          </p:nvPr>
        </p:nvSpPr>
        <p:spPr>
          <a:xfrm>
            <a:off x="812770" y="2235185"/>
            <a:ext cx="10566430" cy="3810015"/>
          </a:xfrm>
          <a:prstGeom prst="rect">
            <a:avLst/>
          </a:prstGeom>
          <a:noFill/>
          <a:ln/>
        </p:spPr>
        <p:txBody>
          <a:bodyPr wrap="square" lIns="0" tIns="0" rIns="0" bIns="0" rtlCol="0" anchor="t"/>
          <a:lstStyle>
            <a:lvl1pPr algn="l" indent="0" marL="0">
              <a:lnSpc>
                <a:spcPct val="140000"/>
              </a:lnSpc>
              <a:buNone/>
              <a:defRPr lang="en-US" sz="1600" dirty="0">
                <a:solidFill>
                  <a:srgbClr val="EFEBE3"/>
                </a:solidFill>
                <a:latin typeface="Instrument Serif" pitchFamily="34" charset="0"/>
                <a:ea typeface="Instrument Serif" pitchFamily="34" charset="-122"/>
                <a:cs typeface="Instrument Serif"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1D2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70" y="914400"/>
            <a:ext cx="10045730" cy="1015985"/>
          </a:xfrm>
          <a:prstGeom prst="rect">
            <a:avLst/>
          </a:prstGeom>
          <a:noFill/>
          <a:ln/>
        </p:spPr>
        <p:txBody>
          <a:bodyPr wrap="square" lIns="0" tIns="0" rIns="0" bIns="0" rtlCol="0" anchor="t"/>
          <a:lstStyle>
            <a:lvl1pPr algn="l" indent="0" marL="0">
              <a:lnSpc>
                <a:spcPct val="115000"/>
              </a:lnSpc>
              <a:buNone/>
              <a:defRPr lang="en-US" sz="5600" dirty="0">
                <a:solidFill>
                  <a:srgbClr val="EFEBE3"/>
                </a:solidFill>
                <a:latin typeface="Instrument Serif" pitchFamily="34" charset="0"/>
                <a:ea typeface="Instrument Serif" pitchFamily="34" charset="-122"/>
                <a:cs typeface="Instrument Serif" pitchFamily="34" charset="-120"/>
              </a:defRPr>
            </a:lvl1pPr>
          </a:lstStyle>
          <a:p>
            <a:pPr algn="l" indent="0" marL="0">
              <a:lnSpc>
                <a:spcPct val="115000"/>
              </a:lnSpc>
              <a:buNone/>
            </a:pPr>
            <a:endParaRPr lang="en-US" sz="5600" dirty="0"/>
          </a:p>
        </p:txBody>
      </p:sp>
      <p:sp>
        <p:nvSpPr>
          <p:cNvPr id="3" name="Text Placeholder 2"/>
          <p:cNvSpPr/>
          <p:nvPr>
            <p:ph idx="101" type="body"/>
          </p:nvPr>
        </p:nvSpPr>
        <p:spPr>
          <a:xfrm>
            <a:off x="812770" y="2235185"/>
            <a:ext cx="10566430" cy="3810015"/>
          </a:xfrm>
          <a:prstGeom prst="rect">
            <a:avLst/>
          </a:prstGeom>
          <a:noFill/>
          <a:ln/>
        </p:spPr>
        <p:txBody>
          <a:bodyPr wrap="square" lIns="0" tIns="0" rIns="0" bIns="0" rtlCol="0" anchor="t"/>
          <a:lstStyle>
            <a:lvl1pPr algn="l" indent="0" marL="0">
              <a:lnSpc>
                <a:spcPct val="140000"/>
              </a:lnSpc>
              <a:buNone/>
              <a:defRPr lang="en-US" sz="1600" dirty="0">
                <a:solidFill>
                  <a:srgbClr val="EFEBE3"/>
                </a:solidFill>
                <a:latin typeface="Instrument Serif" pitchFamily="34" charset="0"/>
                <a:ea typeface="Instrument Serif" pitchFamily="34" charset="-122"/>
                <a:cs typeface="Instrument Serif"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2A"/>
        </a:solidFill>
      </p:bgPr>
    </p:bg>
    <p:spTree>
      <p:nvGrpSpPr>
        <p:cNvPr id="1" name=""/>
        <p:cNvGrpSpPr/>
        <p:nvPr/>
      </p:nvGrpSpPr>
      <p:grpSpPr>
        <a:xfrm>
          <a:off x="0" y="0"/>
          <a:ext cx="0" cy="0"/>
          <a:chOff x="0" y="0"/>
          <a:chExt cx="0" cy="0"/>
        </a:xfrm>
      </p:grpSpPr>
      <p:pic>
        <p:nvPicPr>
          <p:cNvPr id="2" name="Image 0" descr="Hurricane Milton seen from the International Space Station">    </p:cNvPr>
          <p:cNvPicPr>
            <a:picLocks noChangeAspect="1"/>
          </p:cNvPicPr>
          <p:nvPr/>
        </p:nvPicPr>
        <p:blipFill>
          <a:blip r:embed="rId1"/>
          <a:srcRect l="21874" r="21874" t="0" b="0"/>
          <a:stretch/>
        </p:blipFill>
        <p:spPr>
          <a:xfrm>
            <a:off x="6400800" y="0"/>
            <a:ext cx="5791110" cy="6858000"/>
          </a:xfrm>
          <a:prstGeom prst="rect">
            <a:avLst/>
          </a:prstGeom>
        </p:spPr>
      </p:pic>
      <p:pic>
        <p:nvPicPr>
          <p:cNvPr id="3" name="Image 1" descr="Harbor logo">    </p:cNvPr>
          <p:cNvPicPr>
            <a:picLocks noChangeAspect="1"/>
          </p:cNvPicPr>
          <p:nvPr/>
        </p:nvPicPr>
        <p:blipFill>
          <a:blip r:embed="rId2"/>
          <a:srcRect l="0" r="0" t="0" b="0"/>
          <a:stretch/>
        </p:blipFill>
        <p:spPr>
          <a:xfrm>
            <a:off x="812770" y="2452328"/>
            <a:ext cx="888970" cy="888970"/>
          </a:xfrm>
          <a:prstGeom prst="rect">
            <a:avLst/>
          </a:prstGeom>
        </p:spPr>
      </p:pic>
      <p:sp>
        <p:nvSpPr>
          <p:cNvPr id="4" name="Text 0"/>
          <p:cNvSpPr/>
          <p:nvPr>
            <p:ph type="title"/>
          </p:nvPr>
        </p:nvSpPr>
        <p:spPr>
          <a:xfrm>
            <a:off x="1904910" y="2268208"/>
            <a:ext cx="3766616" cy="1282700"/>
          </a:xfrm>
          <a:prstGeom prst="rect">
            <a:avLst/>
          </a:prstGeom>
          <a:noFill/>
          <a:ln/>
        </p:spPr>
        <p:txBody>
          <a:bodyPr wrap="square" lIns="0" tIns="0" rIns="0" bIns="0" rtlCol="0" anchor="t">
            <a:normAutofit/>
          </a:bodyPr>
          <a:lstStyle/>
          <a:p>
            <a:pPr algn="l" indent="0" marL="0">
              <a:lnSpc>
                <a:spcPts val="9900"/>
              </a:lnSpc>
              <a:buNone/>
            </a:pPr>
            <a:r>
              <a:rPr lang="en-US" sz="11000" b="0" i="0" spc="-200" kern="0" dirty="0">
                <a:solidFill>
                  <a:srgbClr val="EFEBE3"/>
                </a:solidFill>
                <a:latin typeface="Instrument Serif" pitchFamily="18" charset="0"/>
                <a:ea typeface="Instrument Serif" pitchFamily="18" charset="-122"/>
                <a:cs typeface="Instrument Serif" pitchFamily="18" charset="-120"/>
              </a:rPr>
              <a:t>harbor</a:t>
            </a:r>
            <a:endParaRPr lang="en-US" sz="11000" dirty="0"/>
          </a:p>
        </p:txBody>
      </p:sp>
      <p:sp>
        <p:nvSpPr>
          <p:cNvPr id="5" name="Text 1"/>
          <p:cNvSpPr/>
          <p:nvPr/>
        </p:nvSpPr>
        <p:spPr>
          <a:xfrm>
            <a:off x="812770" y="3830308"/>
            <a:ext cx="4970719" cy="784884"/>
          </a:xfrm>
          <a:prstGeom prst="rect">
            <a:avLst/>
          </a:prstGeom>
          <a:noFill/>
          <a:ln/>
        </p:spPr>
        <p:txBody>
          <a:bodyPr wrap="square" lIns="0" tIns="0" rIns="0" bIns="0" rtlCol="0" anchor="t">
            <a:normAutofit/>
          </a:bodyPr>
          <a:lstStyle/>
          <a:p>
            <a:pPr algn="l" indent="0" marL="0">
              <a:lnSpc>
                <a:spcPts val="2990"/>
              </a:lnSpc>
              <a:buNone/>
            </a:pPr>
            <a:r>
              <a:rPr lang="en-US" sz="2600" spc="-50" kern="0" dirty="0">
                <a:solidFill>
                  <a:srgbClr val="EFEBE3"/>
                </a:solidFill>
                <a:latin typeface="Geist" pitchFamily="34" charset="0"/>
                <a:ea typeface="Geist" pitchFamily="34" charset="-122"/>
                <a:cs typeface="Geist" pitchFamily="34" charset="-120"/>
              </a:rPr>
              <a:t>Evacuation cash, ready before landfall.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EBE3"/>
        </a:solidFill>
      </p:bgPr>
    </p:bg>
    <p:spTree>
      <p:nvGrpSpPr>
        <p:cNvPr id="1" name=""/>
        <p:cNvGrpSpPr/>
        <p:nvPr/>
      </p:nvGrpSpPr>
      <p:grpSpPr>
        <a:xfrm>
          <a:off x="0" y="0"/>
          <a:ext cx="0" cy="0"/>
          <a:chOff x="0" y="0"/>
          <a:chExt cx="0" cy="0"/>
        </a:xfrm>
      </p:grpSpPr>
      <p:sp>
        <p:nvSpPr>
          <p:cNvPr id="2" name="Text 0"/>
          <p:cNvSpPr/>
          <p:nvPr>
            <p:ph type="title"/>
          </p:nvPr>
        </p:nvSpPr>
        <p:spPr>
          <a:xfrm>
            <a:off x="812770" y="914400"/>
            <a:ext cx="10883453" cy="685770"/>
          </a:xfrm>
          <a:prstGeom prst="rect">
            <a:avLst/>
          </a:prstGeom>
          <a:noFill/>
          <a:ln/>
        </p:spPr>
        <p:txBody>
          <a:bodyPr wrap="square" lIns="0" tIns="0" rIns="0" bIns="0" rtlCol="0" anchor="t">
            <a:normAutofit/>
          </a:bodyPr>
          <a:lstStyle/>
          <a:p>
            <a:pPr algn="l" indent="0" marL="0">
              <a:lnSpc>
                <a:spcPts val="5200"/>
              </a:lnSpc>
              <a:buNone/>
            </a:pPr>
            <a:r>
              <a:rPr lang="en-US" sz="5200" b="0" i="0" spc="-100" kern="0" dirty="0">
                <a:solidFill>
                  <a:srgbClr val="0B1D2A"/>
                </a:solidFill>
                <a:latin typeface="Instrument Serif" pitchFamily="18" charset="0"/>
                <a:ea typeface="Instrument Serif" pitchFamily="18" charset="-122"/>
                <a:cs typeface="Instrument Serif" pitchFamily="18" charset="-120"/>
              </a:rPr>
              <a:t>Money decides who evacuates.</a:t>
            </a:r>
            <a:endParaRPr lang="en-US" sz="5200" dirty="0"/>
          </a:p>
        </p:txBody>
      </p:sp>
      <p:sp>
        <p:nvSpPr>
          <p:cNvPr id="3" name="Text 1"/>
          <p:cNvSpPr/>
          <p:nvPr/>
        </p:nvSpPr>
        <p:spPr>
          <a:xfrm>
            <a:off x="812770" y="3708550"/>
            <a:ext cx="5023197" cy="1752570"/>
          </a:xfrm>
          <a:prstGeom prst="rect">
            <a:avLst/>
          </a:prstGeom>
          <a:noFill/>
          <a:ln/>
        </p:spPr>
        <p:txBody>
          <a:bodyPr wrap="square" lIns="0" tIns="0" rIns="0" bIns="0" rtlCol="0" anchor="t">
            <a:normAutofit/>
          </a:bodyPr>
          <a:lstStyle/>
          <a:p>
            <a:pPr algn="l" indent="0" marL="0">
              <a:lnSpc>
                <a:spcPts val="13600"/>
              </a:lnSpc>
              <a:buNone/>
            </a:pPr>
            <a:r>
              <a:rPr lang="en-US" sz="16000" spc="-400" kern="0" dirty="0">
                <a:solidFill>
                  <a:srgbClr val="D9431A"/>
                </a:solidFill>
                <a:latin typeface="Instrument Serif" pitchFamily="18" charset="0"/>
                <a:ea typeface="Instrument Serif" pitchFamily="18" charset="-122"/>
                <a:cs typeface="Instrument Serif" pitchFamily="18" charset="-120"/>
              </a:rPr>
              <a:t>24%</a:t>
            </a:r>
            <a:endParaRPr lang="en-US" sz="16000" dirty="0"/>
          </a:p>
        </p:txBody>
      </p:sp>
      <p:sp>
        <p:nvSpPr>
          <p:cNvPr id="4" name="Text 2"/>
          <p:cNvSpPr/>
          <p:nvPr/>
        </p:nvSpPr>
        <p:spPr>
          <a:xfrm>
            <a:off x="812770" y="5537260"/>
            <a:ext cx="5023197" cy="330200"/>
          </a:xfrm>
          <a:prstGeom prst="rect">
            <a:avLst/>
          </a:prstGeom>
          <a:noFill/>
          <a:ln/>
        </p:spPr>
        <p:txBody>
          <a:bodyPr wrap="square" lIns="0" tIns="0" rIns="0" bIns="0" rtlCol="0" anchor="t">
            <a:normAutofit/>
          </a:bodyPr>
          <a:lstStyle/>
          <a:p>
            <a:pPr algn="l" indent="0" marL="0">
              <a:lnSpc>
                <a:spcPts val="2400"/>
              </a:lnSpc>
              <a:buNone/>
            </a:pPr>
            <a:r>
              <a:rPr lang="en-US" sz="2000" dirty="0">
                <a:solidFill>
                  <a:srgbClr val="0B1D2A"/>
                </a:solidFill>
                <a:latin typeface="Geist" pitchFamily="34" charset="0"/>
                <a:ea typeface="Geist" pitchFamily="34" charset="-122"/>
                <a:cs typeface="Geist" pitchFamily="34" charset="-120"/>
              </a:rPr>
              <a:t>can’t afford to evacuate.</a:t>
            </a:r>
            <a:endParaRPr lang="en-US" sz="2000" dirty="0"/>
          </a:p>
        </p:txBody>
      </p:sp>
      <p:pic>
        <p:nvPicPr>
          <p:cNvPr id="5" name="Image 0" descr="Florida’s cities at night, seen from the International Space Station">    </p:cNvPr>
          <p:cNvPicPr>
            <a:picLocks noChangeAspect="1"/>
          </p:cNvPicPr>
          <p:nvPr/>
        </p:nvPicPr>
        <p:blipFill>
          <a:blip r:embed="rId1"/>
          <a:srcRect l="741" r="741" t="0" b="0"/>
          <a:stretch/>
        </p:blipFill>
        <p:spPr>
          <a:xfrm>
            <a:off x="6299260" y="2413060"/>
            <a:ext cx="5079970" cy="3429000"/>
          </a:xfrm>
          <a:prstGeom prst="roundRect">
            <a:avLst>
              <a:gd name="adj" fmla="val 3704"/>
            </a:avLst>
          </a:prstGeom>
        </p:spPr>
      </p:pic>
      <p:sp>
        <p:nvSpPr>
          <p:cNvPr id="6" name="Text 3"/>
          <p:cNvSpPr/>
          <p:nvPr/>
        </p:nvSpPr>
        <p:spPr>
          <a:xfrm>
            <a:off x="6451660" y="5219880"/>
            <a:ext cx="2840247" cy="469780"/>
          </a:xfrm>
          <a:prstGeom prst="roundRect">
            <a:avLst>
              <a:gd name="adj" fmla="val 50000"/>
            </a:avLst>
          </a:prstGeom>
          <a:solidFill>
            <a:srgbClr val="0B1D2A">
              <a:alpha val="85000"/>
            </a:srgbClr>
          </a:solidFill>
          <a:ln/>
        </p:spPr>
        <p:txBody>
          <a:bodyPr wrap="none" lIns="0" tIns="0" rIns="0" bIns="0" rtlCol="0" anchor="ctr">
            <a:normAutofit/>
          </a:bodyPr>
          <a:lstStyle/>
          <a:p>
            <a:pPr algn="ctr" indent="0" marL="0">
              <a:lnSpc>
                <a:spcPts val="2100"/>
              </a:lnSpc>
              <a:buNone/>
            </a:pPr>
            <a:r>
              <a:rPr lang="en-US" sz="1500" dirty="0">
                <a:solidFill>
                  <a:srgbClr val="EFEBE3"/>
                </a:solidFill>
                <a:latin typeface="Geist" pitchFamily="34" charset="0"/>
                <a:ea typeface="Geist" pitchFamily="34" charset="-122"/>
                <a:cs typeface="Geist" pitchFamily="34" charset="-120"/>
              </a:rPr>
              <a:t>Milton: $1,000 a night hotels</a:t>
            </a:r>
            <a:endParaRPr lang="en-US" sz="1500" dirty="0"/>
          </a:p>
        </p:txBody>
      </p:sp>
      <p:pic>
        <p:nvPicPr>
          <p:cNvPr id="7" name="Image 1" descr="Harbor logo">    </p:cNvPr>
          <p:cNvPicPr>
            <a:picLocks noChangeAspect="1"/>
          </p:cNvPicPr>
          <p:nvPr/>
        </p:nvPicPr>
        <p:blipFill>
          <a:blip r:embed="rId2"/>
          <a:srcRect l="0" r="0" t="0" b="0"/>
          <a:stretch/>
        </p:blipFill>
        <p:spPr>
          <a:xfrm>
            <a:off x="812770" y="304800"/>
            <a:ext cx="253940" cy="253940"/>
          </a:xfrm>
          <a:prstGeom prst="rect">
            <a:avLst/>
          </a:prstGeom>
        </p:spPr>
      </p:pic>
      <p:sp>
        <p:nvSpPr>
          <p:cNvPr id="8" name="Text 4"/>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0B1D2A"/>
                </a:solidFill>
                <a:latin typeface="Instrument Serif" pitchFamily="18" charset="0"/>
                <a:ea typeface="Instrument Serif" pitchFamily="18" charset="-122"/>
                <a:cs typeface="Instrument Serif" pitchFamily="18" charset="-120"/>
              </a:rPr>
              <a:t>harbor</a:t>
            </a:r>
            <a:endParaRPr lang="en-US" sz="2000" dirty="0"/>
          </a:p>
        </p:txBody>
      </p:sp>
      <p:sp>
        <p:nvSpPr>
          <p:cNvPr id="9" name="Text 5"/>
          <p:cNvSpPr/>
          <p:nvPr/>
        </p:nvSpPr>
        <p:spPr>
          <a:xfrm>
            <a:off x="812770" y="6238335"/>
            <a:ext cx="10883362" cy="2387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A66"/>
                </a:solidFill>
                <a:latin typeface="Geist" pitchFamily="34" charset="0"/>
                <a:ea typeface="Geist" pitchFamily="34" charset="-122"/>
                <a:cs typeface="Geist" pitchFamily="34" charset="-120"/>
              </a:rPr>
              <a:t>Sources: McClatchy poll, 2024 · The Invading Sea, 2024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D2A"/>
        </a:solidFill>
      </p:bgPr>
    </p:bg>
    <p:spTree>
      <p:nvGrpSpPr>
        <p:cNvPr id="1" name=""/>
        <p:cNvGrpSpPr/>
        <p:nvPr/>
      </p:nvGrpSpPr>
      <p:grpSpPr>
        <a:xfrm>
          <a:off x="0" y="0"/>
          <a:ext cx="0" cy="0"/>
          <a:chOff x="0" y="0"/>
          <a:chExt cx="0" cy="0"/>
        </a:xfrm>
      </p:grpSpPr>
      <p:pic>
        <p:nvPicPr>
          <p:cNvPr id="2" name="Image 0" descr="Hurricane Milton over the Gulf of Mexico, seen from the International Space Station">    </p:cNvPr>
          <p:cNvPicPr>
            <a:picLocks noChangeAspect="1"/>
          </p:cNvPicPr>
          <p:nvPr/>
        </p:nvPicPr>
        <p:blipFill>
          <a:blip r:embed="rId1"/>
          <a:srcRect l="93" r="93" t="0" b="0"/>
          <a:stretch/>
        </p:blipFill>
        <p:spPr>
          <a:xfrm>
            <a:off x="0" y="0"/>
            <a:ext cx="12192000" cy="6858000"/>
          </a:xfrm>
          <a:prstGeom prst="rect">
            <a:avLst/>
          </a:prstGeom>
        </p:spPr>
      </p:pic>
      <p:sp>
        <p:nvSpPr>
          <p:cNvPr id="3" name="Shape 0"/>
          <p:cNvSpPr/>
          <p:nvPr/>
        </p:nvSpPr>
        <p:spPr>
          <a:xfrm>
            <a:off x="0" y="0"/>
            <a:ext cx="12192000" cy="6858000"/>
          </a:xfrm>
          <a:prstGeom prst="rect">
            <a:avLst/>
          </a:prstGeom>
          <a:gradFill rotWithShape="1">
            <a:gsLst>
              <a:gs pos="0">
                <a:srgbClr val="0B1D2A">
                  <a:alpha val="72000"/>
                </a:srgbClr>
              </a:gs>
              <a:gs pos="50000">
                <a:srgbClr val="0B1D2A">
                  <a:alpha val="86000"/>
                </a:srgbClr>
              </a:gs>
              <a:gs pos="100000">
                <a:srgbClr val="0B1D2A">
                  <a:alpha val="97000"/>
                </a:srgbClr>
              </a:gs>
            </a:gsLst>
            <a:lin ang="5400000" scaled="0"/>
          </a:gradFill>
          <a:ln/>
        </p:spPr>
      </p:sp>
      <p:sp>
        <p:nvSpPr>
          <p:cNvPr id="4" name="Text 1"/>
          <p:cNvSpPr/>
          <p:nvPr>
            <p:ph type="title"/>
          </p:nvPr>
        </p:nvSpPr>
        <p:spPr>
          <a:xfrm>
            <a:off x="812770" y="914400"/>
            <a:ext cx="9810750" cy="1447860"/>
          </a:xfrm>
          <a:prstGeom prst="rect">
            <a:avLst/>
          </a:prstGeom>
          <a:noFill/>
          <a:ln/>
        </p:spPr>
        <p:txBody>
          <a:bodyPr wrap="square" lIns="0" tIns="0" rIns="0" bIns="0" rtlCol="0" anchor="t">
            <a:normAutofit/>
          </a:bodyPr>
          <a:lstStyle/>
          <a:p>
            <a:pPr algn="l" indent="0" marL="0">
              <a:lnSpc>
                <a:spcPts val="5600"/>
              </a:lnSpc>
              <a:buNone/>
            </a:pPr>
            <a:r>
              <a:rPr lang="en-US" sz="5600" b="0" i="0" spc="-100" kern="0" dirty="0">
                <a:solidFill>
                  <a:srgbClr val="EFEBE3"/>
                </a:solidFill>
                <a:latin typeface="Instrument Serif" pitchFamily="18" charset="0"/>
                <a:ea typeface="Instrument Serif" pitchFamily="18" charset="-122"/>
                <a:cs typeface="Instrument Serif" pitchFamily="18" charset="-120"/>
              </a:rPr>
              <a:t>The warning comes early. </a:t>
            </a:r>
            <a:r>
              <a:rPr lang="en-US" sz="5600" b="0" i="1" spc="-100" kern="0" dirty="0">
                <a:solidFill>
                  <a:srgbClr val="FF5B2E"/>
                </a:solidFill>
                <a:latin typeface="Instrument Serif" pitchFamily="18" charset="0"/>
                <a:ea typeface="Instrument Serif" pitchFamily="18" charset="-122"/>
                <a:cs typeface="Instrument Serif" pitchFamily="18" charset="-120"/>
              </a:rPr>
              <a:t>The money doesn’t.</a:t>
            </a:r>
            <a:endParaRPr lang="en-US" sz="5600" dirty="0"/>
          </a:p>
        </p:txBody>
      </p:sp>
      <p:sp>
        <p:nvSpPr>
          <p:cNvPr id="5" name="Shape 2"/>
          <p:cNvSpPr/>
          <p:nvPr/>
        </p:nvSpPr>
        <p:spPr>
          <a:xfrm>
            <a:off x="812770" y="4965160"/>
            <a:ext cx="2412970" cy="0"/>
          </a:xfrm>
          <a:prstGeom prst="line">
            <a:avLst/>
          </a:prstGeom>
          <a:noFill/>
          <a:ln w="6350">
            <a:solidFill>
              <a:srgbClr val="3A5266"/>
            </a:solidFill>
            <a:prstDash val="solid"/>
          </a:ln>
        </p:spPr>
      </p:sp>
      <p:sp>
        <p:nvSpPr>
          <p:cNvPr id="6" name="Text 3"/>
          <p:cNvSpPr/>
          <p:nvPr/>
        </p:nvSpPr>
        <p:spPr>
          <a:xfrm>
            <a:off x="812770" y="5170908"/>
            <a:ext cx="2485359"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EFEBE3"/>
                </a:solidFill>
                <a:latin typeface="Instrument Serif" pitchFamily="18" charset="0"/>
                <a:ea typeface="Instrument Serif" pitchFamily="18" charset="-122"/>
                <a:cs typeface="Instrument Serif" pitchFamily="18" charset="-120"/>
              </a:rPr>
              <a:t>Day −5</a:t>
            </a:r>
            <a:endParaRPr lang="en-US" sz="3600" dirty="0"/>
          </a:p>
        </p:txBody>
      </p:sp>
      <p:sp>
        <p:nvSpPr>
          <p:cNvPr id="7" name="Text 4"/>
          <p:cNvSpPr/>
          <p:nvPr/>
        </p:nvSpPr>
        <p:spPr>
          <a:xfrm>
            <a:off x="812770" y="5755077"/>
            <a:ext cx="2485359"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9B8C4"/>
                </a:solidFill>
                <a:latin typeface="Geist" pitchFamily="34" charset="0"/>
                <a:ea typeface="Geist" pitchFamily="34" charset="-122"/>
                <a:cs typeface="Geist" pitchFamily="34" charset="-120"/>
              </a:rPr>
              <a:t>Forecast</a:t>
            </a:r>
            <a:endParaRPr lang="en-US" sz="1600" dirty="0"/>
          </a:p>
        </p:txBody>
      </p:sp>
      <p:sp>
        <p:nvSpPr>
          <p:cNvPr id="8" name="Shape 5"/>
          <p:cNvSpPr/>
          <p:nvPr/>
        </p:nvSpPr>
        <p:spPr>
          <a:xfrm>
            <a:off x="3530540" y="4965160"/>
            <a:ext cx="2413060" cy="0"/>
          </a:xfrm>
          <a:prstGeom prst="line">
            <a:avLst/>
          </a:prstGeom>
          <a:noFill/>
          <a:ln w="6350">
            <a:solidFill>
              <a:srgbClr val="3A5266"/>
            </a:solidFill>
            <a:prstDash val="solid"/>
          </a:ln>
        </p:spPr>
      </p:sp>
      <p:sp>
        <p:nvSpPr>
          <p:cNvPr id="9" name="Text 6"/>
          <p:cNvSpPr/>
          <p:nvPr/>
        </p:nvSpPr>
        <p:spPr>
          <a:xfrm>
            <a:off x="3530540" y="5170908"/>
            <a:ext cx="2485452"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EFEBE3"/>
                </a:solidFill>
                <a:latin typeface="Instrument Serif" pitchFamily="18" charset="0"/>
                <a:ea typeface="Instrument Serif" pitchFamily="18" charset="-122"/>
                <a:cs typeface="Instrument Serif" pitchFamily="18" charset="-120"/>
              </a:rPr>
              <a:t>Day −3</a:t>
            </a:r>
            <a:endParaRPr lang="en-US" sz="3600" dirty="0"/>
          </a:p>
        </p:txBody>
      </p:sp>
      <p:sp>
        <p:nvSpPr>
          <p:cNvPr id="10" name="Text 7"/>
          <p:cNvSpPr/>
          <p:nvPr/>
        </p:nvSpPr>
        <p:spPr>
          <a:xfrm>
            <a:off x="3530540" y="5755077"/>
            <a:ext cx="2485452"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9B8C4"/>
                </a:solidFill>
                <a:latin typeface="Geist" pitchFamily="34" charset="0"/>
                <a:ea typeface="Geist" pitchFamily="34" charset="-122"/>
                <a:cs typeface="Geist" pitchFamily="34" charset="-120"/>
              </a:rPr>
              <a:t>Prices spike</a:t>
            </a:r>
            <a:endParaRPr lang="en-US" sz="1600" dirty="0"/>
          </a:p>
        </p:txBody>
      </p:sp>
      <p:sp>
        <p:nvSpPr>
          <p:cNvPr id="11" name="Shape 8"/>
          <p:cNvSpPr/>
          <p:nvPr/>
        </p:nvSpPr>
        <p:spPr>
          <a:xfrm>
            <a:off x="6248400" y="4965160"/>
            <a:ext cx="2412970" cy="0"/>
          </a:xfrm>
          <a:prstGeom prst="line">
            <a:avLst/>
          </a:prstGeom>
          <a:noFill/>
          <a:ln w="6350">
            <a:solidFill>
              <a:srgbClr val="3A5266"/>
            </a:solidFill>
            <a:prstDash val="solid"/>
          </a:ln>
        </p:spPr>
      </p:sp>
      <p:sp>
        <p:nvSpPr>
          <p:cNvPr id="12" name="Text 9"/>
          <p:cNvSpPr/>
          <p:nvPr/>
        </p:nvSpPr>
        <p:spPr>
          <a:xfrm>
            <a:off x="6248400" y="5170908"/>
            <a:ext cx="2485359"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EFEBE3"/>
                </a:solidFill>
                <a:latin typeface="Instrument Serif" pitchFamily="18" charset="0"/>
                <a:ea typeface="Instrument Serif" pitchFamily="18" charset="-122"/>
                <a:cs typeface="Instrument Serif" pitchFamily="18" charset="-120"/>
              </a:rPr>
              <a:t>Day −1</a:t>
            </a:r>
            <a:endParaRPr lang="en-US" sz="3600" dirty="0"/>
          </a:p>
        </p:txBody>
      </p:sp>
      <p:sp>
        <p:nvSpPr>
          <p:cNvPr id="13" name="Text 10"/>
          <p:cNvSpPr/>
          <p:nvPr/>
        </p:nvSpPr>
        <p:spPr>
          <a:xfrm>
            <a:off x="6248400" y="5755077"/>
            <a:ext cx="2485359"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9B8C4"/>
                </a:solidFill>
                <a:latin typeface="Geist" pitchFamily="34" charset="0"/>
                <a:ea typeface="Geist" pitchFamily="34" charset="-122"/>
                <a:cs typeface="Geist" pitchFamily="34" charset="-120"/>
              </a:rPr>
              <a:t>Money still settling</a:t>
            </a:r>
            <a:endParaRPr lang="en-US" sz="1600" dirty="0"/>
          </a:p>
        </p:txBody>
      </p:sp>
      <p:sp>
        <p:nvSpPr>
          <p:cNvPr id="14" name="Shape 11"/>
          <p:cNvSpPr/>
          <p:nvPr/>
        </p:nvSpPr>
        <p:spPr>
          <a:xfrm>
            <a:off x="8966171" y="4968335"/>
            <a:ext cx="2413060" cy="0"/>
          </a:xfrm>
          <a:prstGeom prst="line">
            <a:avLst/>
          </a:prstGeom>
          <a:noFill/>
          <a:ln w="12700">
            <a:solidFill>
              <a:srgbClr val="FF5B2E"/>
            </a:solidFill>
            <a:prstDash val="solid"/>
          </a:ln>
        </p:spPr>
      </p:sp>
      <p:sp>
        <p:nvSpPr>
          <p:cNvPr id="15" name="Text 12"/>
          <p:cNvSpPr/>
          <p:nvPr/>
        </p:nvSpPr>
        <p:spPr>
          <a:xfrm>
            <a:off x="8966171" y="5176658"/>
            <a:ext cx="2485452" cy="482600"/>
          </a:xfrm>
          <a:prstGeom prst="rect">
            <a:avLst/>
          </a:prstGeom>
          <a:noFill/>
          <a:ln/>
        </p:spPr>
        <p:txBody>
          <a:bodyPr wrap="square" lIns="0" tIns="0" rIns="0" bIns="0" rtlCol="0" anchor="t">
            <a:normAutofit/>
          </a:bodyPr>
          <a:lstStyle/>
          <a:p>
            <a:pPr algn="l" indent="0" marL="0">
              <a:lnSpc>
                <a:spcPts val="3600"/>
              </a:lnSpc>
              <a:buNone/>
            </a:pPr>
            <a:r>
              <a:rPr lang="en-US" sz="3600" dirty="0">
                <a:solidFill>
                  <a:srgbClr val="FF5B2E"/>
                </a:solidFill>
                <a:latin typeface="Instrument Serif" pitchFamily="18" charset="0"/>
                <a:ea typeface="Instrument Serif" pitchFamily="18" charset="-122"/>
                <a:cs typeface="Instrument Serif" pitchFamily="18" charset="-120"/>
              </a:rPr>
              <a:t>Landfall</a:t>
            </a:r>
            <a:endParaRPr lang="en-US" sz="3600" dirty="0"/>
          </a:p>
        </p:txBody>
      </p:sp>
      <p:sp>
        <p:nvSpPr>
          <p:cNvPr id="16" name="Text 13"/>
          <p:cNvSpPr/>
          <p:nvPr/>
        </p:nvSpPr>
        <p:spPr>
          <a:xfrm>
            <a:off x="8966171" y="5760828"/>
            <a:ext cx="2485452"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9B8C4"/>
                </a:solidFill>
                <a:latin typeface="Geist" pitchFamily="34" charset="0"/>
                <a:ea typeface="Geist" pitchFamily="34" charset="-122"/>
                <a:cs typeface="Geist" pitchFamily="34" charset="-120"/>
              </a:rPr>
              <a:t>ATMs go down</a:t>
            </a:r>
            <a:endParaRPr lang="en-US" sz="1600" dirty="0"/>
          </a:p>
        </p:txBody>
      </p:sp>
      <p:pic>
        <p:nvPicPr>
          <p:cNvPr id="17" name="Image 1" descr="Harbor logo">    </p:cNvPr>
          <p:cNvPicPr>
            <a:picLocks noChangeAspect="1"/>
          </p:cNvPicPr>
          <p:nvPr/>
        </p:nvPicPr>
        <p:blipFill>
          <a:blip r:embed="rId2"/>
          <a:srcRect l="0" r="0" t="0" b="0"/>
          <a:stretch/>
        </p:blipFill>
        <p:spPr>
          <a:xfrm>
            <a:off x="812770" y="304800"/>
            <a:ext cx="253940" cy="253940"/>
          </a:xfrm>
          <a:prstGeom prst="rect">
            <a:avLst/>
          </a:prstGeom>
        </p:spPr>
      </p:pic>
      <p:sp>
        <p:nvSpPr>
          <p:cNvPr id="18" name="Text 14"/>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EFEBE3"/>
                </a:solidFill>
                <a:latin typeface="Instrument Serif" pitchFamily="18" charset="0"/>
                <a:ea typeface="Instrument Serif" pitchFamily="18" charset="-122"/>
                <a:cs typeface="Instrument Serif" pitchFamily="18" charset="-120"/>
              </a:rPr>
              <a:t>harbor</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BE3"/>
        </a:solidFill>
      </p:bgPr>
    </p:bg>
    <p:spTree>
      <p:nvGrpSpPr>
        <p:cNvPr id="1" name=""/>
        <p:cNvGrpSpPr/>
        <p:nvPr/>
      </p:nvGrpSpPr>
      <p:grpSpPr>
        <a:xfrm>
          <a:off x="0" y="0"/>
          <a:ext cx="0" cy="0"/>
          <a:chOff x="0" y="0"/>
          <a:chExt cx="0" cy="0"/>
        </a:xfrm>
      </p:grpSpPr>
      <p:sp>
        <p:nvSpPr>
          <p:cNvPr id="2" name="Text 0"/>
          <p:cNvSpPr/>
          <p:nvPr>
            <p:ph type="title"/>
          </p:nvPr>
        </p:nvSpPr>
        <p:spPr>
          <a:xfrm>
            <a:off x="812770" y="914400"/>
            <a:ext cx="10883453" cy="736630"/>
          </a:xfrm>
          <a:prstGeom prst="rect">
            <a:avLst/>
          </a:prstGeom>
          <a:noFill/>
          <a:ln/>
        </p:spPr>
        <p:txBody>
          <a:bodyPr wrap="square" lIns="0" tIns="0" rIns="0" bIns="0" rtlCol="0" anchor="t">
            <a:normAutofit/>
          </a:bodyPr>
          <a:lstStyle/>
          <a:p>
            <a:pPr algn="l" indent="0" marL="0">
              <a:lnSpc>
                <a:spcPts val="5600"/>
              </a:lnSpc>
              <a:buNone/>
            </a:pPr>
            <a:r>
              <a:rPr lang="en-US" sz="5600" b="0" i="0" spc="-100" kern="0" dirty="0">
                <a:solidFill>
                  <a:srgbClr val="0B1D2A"/>
                </a:solidFill>
                <a:latin typeface="Instrument Serif" pitchFamily="18" charset="0"/>
                <a:ea typeface="Instrument Serif" pitchFamily="18" charset="-122"/>
                <a:cs typeface="Instrument Serif" pitchFamily="18" charset="-120"/>
              </a:rPr>
              <a:t>Money that moves with the forecast.</a:t>
            </a:r>
            <a:endParaRPr lang="en-US" sz="5600" dirty="0"/>
          </a:p>
        </p:txBody>
      </p:sp>
      <p:sp>
        <p:nvSpPr>
          <p:cNvPr id="3" name="Shape 1"/>
          <p:cNvSpPr/>
          <p:nvPr/>
        </p:nvSpPr>
        <p:spPr>
          <a:xfrm>
            <a:off x="812770" y="4635021"/>
            <a:ext cx="3251260" cy="0"/>
          </a:xfrm>
          <a:prstGeom prst="line">
            <a:avLst/>
          </a:prstGeom>
          <a:noFill/>
          <a:ln w="6350">
            <a:solidFill>
              <a:srgbClr val="0B1D2A"/>
            </a:solidFill>
            <a:prstDash val="solid"/>
          </a:ln>
        </p:spPr>
      </p:sp>
      <p:sp>
        <p:nvSpPr>
          <p:cNvPr id="4" name="Text 2"/>
          <p:cNvSpPr/>
          <p:nvPr/>
        </p:nvSpPr>
        <p:spPr>
          <a:xfrm>
            <a:off x="812770" y="4840767"/>
            <a:ext cx="3348798" cy="838170"/>
          </a:xfrm>
          <a:prstGeom prst="rect">
            <a:avLst/>
          </a:prstGeom>
          <a:noFill/>
          <a:ln/>
        </p:spPr>
        <p:txBody>
          <a:bodyPr wrap="square" lIns="0" tIns="0" rIns="0" bIns="0" rtlCol="0" anchor="t">
            <a:normAutofit/>
          </a:bodyPr>
          <a:lstStyle/>
          <a:p>
            <a:pPr algn="l" indent="0" marL="0">
              <a:lnSpc>
                <a:spcPts val="6400"/>
              </a:lnSpc>
              <a:buNone/>
            </a:pPr>
            <a:r>
              <a:rPr lang="en-US" sz="6400" spc="-100" kern="0" dirty="0">
                <a:solidFill>
                  <a:srgbClr val="0B1D2A"/>
                </a:solidFill>
                <a:latin typeface="Instrument Serif" pitchFamily="18" charset="0"/>
                <a:ea typeface="Instrument Serif" pitchFamily="18" charset="-122"/>
                <a:cs typeface="Instrument Serif" pitchFamily="18" charset="-120"/>
              </a:rPr>
              <a:t>Watch</a:t>
            </a:r>
            <a:endParaRPr lang="en-US" sz="6400" dirty="0"/>
          </a:p>
        </p:txBody>
      </p:sp>
      <p:sp>
        <p:nvSpPr>
          <p:cNvPr id="5" name="Text 3"/>
          <p:cNvSpPr/>
          <p:nvPr/>
        </p:nvSpPr>
        <p:spPr>
          <a:xfrm>
            <a:off x="812770" y="5755078"/>
            <a:ext cx="3348798"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B5A66"/>
                </a:solidFill>
                <a:latin typeface="Geist" pitchFamily="34" charset="0"/>
                <a:ea typeface="Geist" pitchFamily="34" charset="-122"/>
                <a:cs typeface="Geist" pitchFamily="34" charset="-120"/>
              </a:rPr>
              <a:t>the forecast</a:t>
            </a:r>
            <a:endParaRPr lang="en-US" sz="1600" dirty="0"/>
          </a:p>
        </p:txBody>
      </p:sp>
      <p:sp>
        <p:nvSpPr>
          <p:cNvPr id="6" name="Shape 4"/>
          <p:cNvSpPr/>
          <p:nvPr/>
        </p:nvSpPr>
        <p:spPr>
          <a:xfrm>
            <a:off x="4470370" y="4635021"/>
            <a:ext cx="3251260" cy="0"/>
          </a:xfrm>
          <a:prstGeom prst="line">
            <a:avLst/>
          </a:prstGeom>
          <a:noFill/>
          <a:ln w="6350">
            <a:solidFill>
              <a:srgbClr val="0B1D2A"/>
            </a:solidFill>
            <a:prstDash val="solid"/>
          </a:ln>
        </p:spPr>
      </p:sp>
      <p:sp>
        <p:nvSpPr>
          <p:cNvPr id="7" name="Text 5"/>
          <p:cNvSpPr/>
          <p:nvPr/>
        </p:nvSpPr>
        <p:spPr>
          <a:xfrm>
            <a:off x="4470370" y="4840767"/>
            <a:ext cx="3348798" cy="838170"/>
          </a:xfrm>
          <a:prstGeom prst="rect">
            <a:avLst/>
          </a:prstGeom>
          <a:noFill/>
          <a:ln/>
        </p:spPr>
        <p:txBody>
          <a:bodyPr wrap="square" lIns="0" tIns="0" rIns="0" bIns="0" rtlCol="0" anchor="t">
            <a:normAutofit/>
          </a:bodyPr>
          <a:lstStyle/>
          <a:p>
            <a:pPr algn="l" indent="0" marL="0">
              <a:lnSpc>
                <a:spcPts val="6400"/>
              </a:lnSpc>
              <a:buNone/>
            </a:pPr>
            <a:r>
              <a:rPr lang="en-US" sz="6400" spc="-100" kern="0" dirty="0">
                <a:solidFill>
                  <a:srgbClr val="0B1D2A"/>
                </a:solidFill>
                <a:latin typeface="Instrument Serif" pitchFamily="18" charset="0"/>
                <a:ea typeface="Instrument Serif" pitchFamily="18" charset="-122"/>
                <a:cs typeface="Instrument Serif" pitchFamily="18" charset="-120"/>
              </a:rPr>
              <a:t>Prepare</a:t>
            </a:r>
            <a:endParaRPr lang="en-US" sz="6400" dirty="0"/>
          </a:p>
        </p:txBody>
      </p:sp>
      <p:sp>
        <p:nvSpPr>
          <p:cNvPr id="8" name="Text 6"/>
          <p:cNvSpPr/>
          <p:nvPr/>
        </p:nvSpPr>
        <p:spPr>
          <a:xfrm>
            <a:off x="4470370" y="5755078"/>
            <a:ext cx="3348798"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B5A66"/>
                </a:solidFill>
                <a:latin typeface="Geist" pitchFamily="34" charset="0"/>
                <a:ea typeface="Geist" pitchFamily="34" charset="-122"/>
                <a:cs typeface="Geist" pitchFamily="34" charset="-120"/>
              </a:rPr>
              <a:t>the cash</a:t>
            </a:r>
            <a:endParaRPr lang="en-US" sz="1600" dirty="0"/>
          </a:p>
        </p:txBody>
      </p:sp>
      <p:sp>
        <p:nvSpPr>
          <p:cNvPr id="9" name="Shape 7"/>
          <p:cNvSpPr/>
          <p:nvPr/>
        </p:nvSpPr>
        <p:spPr>
          <a:xfrm>
            <a:off x="8127971" y="4638196"/>
            <a:ext cx="3251260" cy="0"/>
          </a:xfrm>
          <a:prstGeom prst="line">
            <a:avLst/>
          </a:prstGeom>
          <a:noFill/>
          <a:ln w="12700">
            <a:solidFill>
              <a:srgbClr val="D9431A"/>
            </a:solidFill>
            <a:prstDash val="solid"/>
          </a:ln>
        </p:spPr>
      </p:sp>
      <p:sp>
        <p:nvSpPr>
          <p:cNvPr id="10" name="Text 8"/>
          <p:cNvSpPr/>
          <p:nvPr/>
        </p:nvSpPr>
        <p:spPr>
          <a:xfrm>
            <a:off x="8127971" y="4846518"/>
            <a:ext cx="3348798" cy="838170"/>
          </a:xfrm>
          <a:prstGeom prst="rect">
            <a:avLst/>
          </a:prstGeom>
          <a:noFill/>
          <a:ln/>
        </p:spPr>
        <p:txBody>
          <a:bodyPr wrap="square" lIns="0" tIns="0" rIns="0" bIns="0" rtlCol="0" anchor="t">
            <a:normAutofit/>
          </a:bodyPr>
          <a:lstStyle/>
          <a:p>
            <a:pPr algn="l" indent="0" marL="0">
              <a:lnSpc>
                <a:spcPts val="6400"/>
              </a:lnSpc>
              <a:buNone/>
            </a:pPr>
            <a:r>
              <a:rPr lang="en-US" sz="6400" spc="-100" kern="0" dirty="0">
                <a:solidFill>
                  <a:srgbClr val="D9431A"/>
                </a:solidFill>
                <a:latin typeface="Instrument Serif" pitchFamily="18" charset="0"/>
                <a:ea typeface="Instrument Serif" pitchFamily="18" charset="-122"/>
                <a:cs typeface="Instrument Serif" pitchFamily="18" charset="-120"/>
              </a:rPr>
              <a:t>Return</a:t>
            </a:r>
            <a:endParaRPr lang="en-US" sz="6400" dirty="0"/>
          </a:p>
        </p:txBody>
      </p:sp>
      <p:sp>
        <p:nvSpPr>
          <p:cNvPr id="11" name="Text 9"/>
          <p:cNvSpPr/>
          <p:nvPr/>
        </p:nvSpPr>
        <p:spPr>
          <a:xfrm>
            <a:off x="8127971" y="5760830"/>
            <a:ext cx="3348798" cy="3098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B5A66"/>
                </a:solidFill>
                <a:latin typeface="Geist" pitchFamily="34" charset="0"/>
                <a:ea typeface="Geist" pitchFamily="34" charset="-122"/>
                <a:cs typeface="Geist" pitchFamily="34" charset="-120"/>
              </a:rPr>
              <a:t>after the storm</a:t>
            </a:r>
            <a:endParaRPr lang="en-US" sz="1600" dirty="0"/>
          </a:p>
        </p:txBody>
      </p:sp>
      <p:pic>
        <p:nvPicPr>
          <p:cNvPr id="12" name="Image 0" descr="Harbor logo">    </p:cNvPr>
          <p:cNvPicPr>
            <a:picLocks noChangeAspect="1"/>
          </p:cNvPicPr>
          <p:nvPr/>
        </p:nvPicPr>
        <p:blipFill>
          <a:blip r:embed="rId1"/>
          <a:srcRect l="0" r="0" t="0" b="0"/>
          <a:stretch/>
        </p:blipFill>
        <p:spPr>
          <a:xfrm>
            <a:off x="812770" y="304800"/>
            <a:ext cx="253940" cy="253940"/>
          </a:xfrm>
          <a:prstGeom prst="rect">
            <a:avLst/>
          </a:prstGeom>
        </p:spPr>
      </p:pic>
      <p:sp>
        <p:nvSpPr>
          <p:cNvPr id="13" name="Text 10"/>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0B1D2A"/>
                </a:solidFill>
                <a:latin typeface="Instrument Serif" pitchFamily="18" charset="0"/>
                <a:ea typeface="Instrument Serif" pitchFamily="18" charset="-122"/>
                <a:cs typeface="Instrument Serif" pitchFamily="18" charset="-120"/>
              </a:rPr>
              <a:t>harbor</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D2A"/>
        </a:solidFill>
      </p:bgPr>
    </p:bg>
    <p:spTree>
      <p:nvGrpSpPr>
        <p:cNvPr id="1" name=""/>
        <p:cNvGrpSpPr/>
        <p:nvPr/>
      </p:nvGrpSpPr>
      <p:grpSpPr>
        <a:xfrm>
          <a:off x="0" y="0"/>
          <a:ext cx="0" cy="0"/>
          <a:chOff x="0" y="0"/>
          <a:chExt cx="0" cy="0"/>
        </a:xfrm>
      </p:grpSpPr>
      <p:sp>
        <p:nvSpPr>
          <p:cNvPr id="2" name="Text 0"/>
          <p:cNvSpPr/>
          <p:nvPr>
            <p:ph type="title"/>
          </p:nvPr>
        </p:nvSpPr>
        <p:spPr>
          <a:xfrm>
            <a:off x="812770" y="914400"/>
            <a:ext cx="10883453" cy="685770"/>
          </a:xfrm>
          <a:prstGeom prst="rect">
            <a:avLst/>
          </a:prstGeom>
          <a:noFill/>
          <a:ln/>
        </p:spPr>
        <p:txBody>
          <a:bodyPr wrap="square" lIns="0" tIns="0" rIns="0" bIns="0" rtlCol="0" anchor="t">
            <a:normAutofit/>
          </a:bodyPr>
          <a:lstStyle/>
          <a:p>
            <a:pPr algn="l" indent="0" marL="0">
              <a:lnSpc>
                <a:spcPts val="5200"/>
              </a:lnSpc>
              <a:buNone/>
            </a:pPr>
            <a:r>
              <a:rPr lang="en-US" sz="5200" b="0" i="0" spc="-100" kern="0" dirty="0">
                <a:solidFill>
                  <a:srgbClr val="EFEBE3"/>
                </a:solidFill>
                <a:latin typeface="Instrument Serif" pitchFamily="18" charset="0"/>
                <a:ea typeface="Instrument Serif" pitchFamily="18" charset="-122"/>
                <a:cs typeface="Instrument Serif" pitchFamily="18" charset="-120"/>
              </a:rPr>
              <a:t>One alert. </a:t>
            </a:r>
            <a:r>
              <a:rPr lang="en-US" sz="5200" b="0" i="1" spc="-100" kern="0" dirty="0">
                <a:solidFill>
                  <a:srgbClr val="FF5B2E"/>
                </a:solidFill>
                <a:latin typeface="Instrument Serif" pitchFamily="18" charset="0"/>
                <a:ea typeface="Instrument Serif" pitchFamily="18" charset="-122"/>
                <a:cs typeface="Instrument Serif" pitchFamily="18" charset="-120"/>
              </a:rPr>
              <a:t>One tap.</a:t>
            </a:r>
            <a:endParaRPr lang="en-US" sz="5200" dirty="0"/>
          </a:p>
        </p:txBody>
      </p:sp>
      <p:sp>
        <p:nvSpPr>
          <p:cNvPr id="3" name="Shape 1"/>
          <p:cNvSpPr/>
          <p:nvPr/>
        </p:nvSpPr>
        <p:spPr>
          <a:xfrm>
            <a:off x="1549430" y="2362290"/>
            <a:ext cx="2793970" cy="3682940"/>
          </a:xfrm>
          <a:prstGeom prst="roundRect">
            <a:avLst>
              <a:gd name="adj" fmla="val 10909"/>
            </a:avLst>
          </a:prstGeom>
          <a:solidFill>
            <a:srgbClr val="EFEBE3"/>
          </a:solidFill>
          <a:ln/>
        </p:spPr>
      </p:sp>
      <p:sp>
        <p:nvSpPr>
          <p:cNvPr id="4" name="Text 2"/>
          <p:cNvSpPr/>
          <p:nvPr/>
        </p:nvSpPr>
        <p:spPr>
          <a:xfrm>
            <a:off x="1828800" y="2641659"/>
            <a:ext cx="230228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D2A"/>
                </a:solidFill>
                <a:latin typeface="Geist" pitchFamily="34" charset="0"/>
                <a:ea typeface="Geist" pitchFamily="34" charset="-122"/>
                <a:cs typeface="Geist" pitchFamily="34" charset="-120"/>
              </a:rPr>
              <a:t>Hurricane Milton</a:t>
            </a:r>
            <a:endParaRPr lang="en-US" sz="1500" dirty="0"/>
          </a:p>
        </p:txBody>
      </p:sp>
      <p:sp>
        <p:nvSpPr>
          <p:cNvPr id="5" name="Text 3"/>
          <p:cNvSpPr/>
          <p:nvPr/>
        </p:nvSpPr>
        <p:spPr>
          <a:xfrm>
            <a:off x="1828800" y="3574932"/>
            <a:ext cx="2302287" cy="688915"/>
          </a:xfrm>
          <a:prstGeom prst="rect">
            <a:avLst/>
          </a:prstGeom>
          <a:noFill/>
          <a:ln/>
        </p:spPr>
        <p:txBody>
          <a:bodyPr wrap="square" lIns="0" tIns="0" rIns="0" bIns="0" rtlCol="0" anchor="t">
            <a:normAutofit/>
          </a:bodyPr>
          <a:lstStyle/>
          <a:p>
            <a:pPr algn="l" indent="0" marL="0">
              <a:lnSpc>
                <a:spcPts val="5225"/>
              </a:lnSpc>
              <a:buNone/>
            </a:pPr>
            <a:r>
              <a:rPr lang="en-US" sz="5500" spc="-100" kern="0" dirty="0">
                <a:solidFill>
                  <a:srgbClr val="0B1D2A"/>
                </a:solidFill>
                <a:latin typeface="Instrument Serif" pitchFamily="18" charset="0"/>
                <a:ea typeface="Instrument Serif" pitchFamily="18" charset="-122"/>
                <a:cs typeface="Instrument Serif" pitchFamily="18" charset="-120"/>
              </a:rPr>
              <a:t>5 days</a:t>
            </a:r>
            <a:endParaRPr lang="en-US" sz="5500" dirty="0"/>
          </a:p>
        </p:txBody>
      </p:sp>
      <p:sp>
        <p:nvSpPr>
          <p:cNvPr id="6" name="Text 4"/>
          <p:cNvSpPr/>
          <p:nvPr/>
        </p:nvSpPr>
        <p:spPr>
          <a:xfrm>
            <a:off x="1828800" y="4339986"/>
            <a:ext cx="2302287" cy="2564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A66"/>
                </a:solidFill>
                <a:latin typeface="Geist" pitchFamily="34" charset="0"/>
                <a:ea typeface="Geist" pitchFamily="34" charset="-122"/>
                <a:cs typeface="Geist" pitchFamily="34" charset="-120"/>
              </a:rPr>
              <a:t>until landfall</a:t>
            </a:r>
            <a:endParaRPr lang="en-US" sz="1300" dirty="0"/>
          </a:p>
        </p:txBody>
      </p:sp>
      <p:sp>
        <p:nvSpPr>
          <p:cNvPr id="7" name="Text 5"/>
          <p:cNvSpPr/>
          <p:nvPr/>
        </p:nvSpPr>
        <p:spPr>
          <a:xfrm>
            <a:off x="1828800" y="5237671"/>
            <a:ext cx="2235230" cy="528188"/>
          </a:xfrm>
          <a:prstGeom prst="roundRect">
            <a:avLst>
              <a:gd name="adj" fmla="val 50000"/>
            </a:avLst>
          </a:prstGeom>
          <a:solidFill>
            <a:srgbClr val="0B1D2A"/>
          </a:solidFill>
          <a:ln/>
        </p:spPr>
        <p:txBody>
          <a:bodyPr wrap="square" lIns="33012" tIns="62349" rIns="33012" bIns="36949" rtlCol="0" anchor="t">
            <a:normAutofit/>
          </a:bodyPr>
          <a:lstStyle/>
          <a:p>
            <a:pPr algn="ctr" indent="0" marL="0">
              <a:lnSpc>
                <a:spcPts val="1960"/>
              </a:lnSpc>
              <a:buNone/>
            </a:pPr>
            <a:r>
              <a:rPr lang="en-US" sz="1400" b="1" dirty="0">
                <a:solidFill>
                  <a:srgbClr val="EFEBE3"/>
                </a:solidFill>
                <a:latin typeface="Geist" pitchFamily="34" charset="0"/>
                <a:ea typeface="Geist" pitchFamily="34" charset="-122"/>
                <a:cs typeface="Geist" pitchFamily="34" charset="-120"/>
              </a:rPr>
              <a:t>See plan</a:t>
            </a:r>
            <a:endParaRPr lang="en-US" sz="1400" dirty="0"/>
          </a:p>
        </p:txBody>
      </p:sp>
      <p:sp>
        <p:nvSpPr>
          <p:cNvPr id="8" name="Shape 6"/>
          <p:cNvSpPr/>
          <p:nvPr/>
        </p:nvSpPr>
        <p:spPr>
          <a:xfrm>
            <a:off x="4698970" y="2362290"/>
            <a:ext cx="2793970" cy="3682940"/>
          </a:xfrm>
          <a:prstGeom prst="roundRect">
            <a:avLst>
              <a:gd name="adj" fmla="val 10909"/>
            </a:avLst>
          </a:prstGeom>
          <a:solidFill>
            <a:srgbClr val="EFEBE3"/>
          </a:solidFill>
          <a:ln/>
        </p:spPr>
      </p:sp>
      <p:sp>
        <p:nvSpPr>
          <p:cNvPr id="9" name="Text 7"/>
          <p:cNvSpPr/>
          <p:nvPr/>
        </p:nvSpPr>
        <p:spPr>
          <a:xfrm>
            <a:off x="4978340" y="2641659"/>
            <a:ext cx="230228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D2A"/>
                </a:solidFill>
                <a:latin typeface="Geist" pitchFamily="34" charset="0"/>
                <a:ea typeface="Geist" pitchFamily="34" charset="-122"/>
                <a:cs typeface="Geist" pitchFamily="34" charset="-120"/>
              </a:rPr>
              <a:t>Your plan</a:t>
            </a:r>
            <a:endParaRPr lang="en-US" sz="1500" dirty="0"/>
          </a:p>
        </p:txBody>
      </p:sp>
      <p:sp>
        <p:nvSpPr>
          <p:cNvPr id="10" name="Text 8"/>
          <p:cNvSpPr/>
          <p:nvPr/>
        </p:nvSpPr>
        <p:spPr>
          <a:xfrm>
            <a:off x="4978340" y="3574932"/>
            <a:ext cx="2302287" cy="688915"/>
          </a:xfrm>
          <a:prstGeom prst="rect">
            <a:avLst/>
          </a:prstGeom>
          <a:noFill/>
          <a:ln/>
        </p:spPr>
        <p:txBody>
          <a:bodyPr wrap="square" lIns="0" tIns="0" rIns="0" bIns="0" rtlCol="0" anchor="t">
            <a:normAutofit/>
          </a:bodyPr>
          <a:lstStyle/>
          <a:p>
            <a:pPr algn="l" indent="0" marL="0">
              <a:lnSpc>
                <a:spcPts val="5225"/>
              </a:lnSpc>
              <a:buNone/>
            </a:pPr>
            <a:r>
              <a:rPr lang="en-US" sz="5500" spc="-100" kern="0" dirty="0">
                <a:solidFill>
                  <a:srgbClr val="0B1D2A"/>
                </a:solidFill>
                <a:latin typeface="Instrument Serif" pitchFamily="18" charset="0"/>
                <a:ea typeface="Instrument Serif" pitchFamily="18" charset="-122"/>
                <a:cs typeface="Instrument Serif" pitchFamily="18" charset="-120"/>
              </a:rPr>
              <a:t>$1,200</a:t>
            </a:r>
            <a:endParaRPr lang="en-US" sz="5500" dirty="0"/>
          </a:p>
        </p:txBody>
      </p:sp>
      <p:sp>
        <p:nvSpPr>
          <p:cNvPr id="11" name="Text 9"/>
          <p:cNvSpPr/>
          <p:nvPr/>
        </p:nvSpPr>
        <p:spPr>
          <a:xfrm>
            <a:off x="4978340" y="4339986"/>
            <a:ext cx="2302287" cy="25642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A66"/>
                </a:solidFill>
                <a:latin typeface="Geist" pitchFamily="34" charset="0"/>
                <a:ea typeface="Geist" pitchFamily="34" charset="-122"/>
                <a:cs typeface="Geist" pitchFamily="34" charset="-120"/>
              </a:rPr>
              <a:t>ready by Tuesday</a:t>
            </a:r>
            <a:endParaRPr lang="en-US" sz="1300" dirty="0"/>
          </a:p>
        </p:txBody>
      </p:sp>
      <p:sp>
        <p:nvSpPr>
          <p:cNvPr id="12" name="Text 10"/>
          <p:cNvSpPr/>
          <p:nvPr/>
        </p:nvSpPr>
        <p:spPr>
          <a:xfrm>
            <a:off x="4978340" y="5237671"/>
            <a:ext cx="2235230" cy="528188"/>
          </a:xfrm>
          <a:prstGeom prst="roundRect">
            <a:avLst>
              <a:gd name="adj" fmla="val 50000"/>
            </a:avLst>
          </a:prstGeom>
          <a:solidFill>
            <a:srgbClr val="FF5B2E"/>
          </a:solidFill>
          <a:ln/>
        </p:spPr>
        <p:txBody>
          <a:bodyPr wrap="square" lIns="33012" tIns="62349" rIns="33012" bIns="36949" rtlCol="0" anchor="t">
            <a:normAutofit/>
          </a:bodyPr>
          <a:lstStyle/>
          <a:p>
            <a:pPr algn="ctr" indent="0" marL="0">
              <a:lnSpc>
                <a:spcPts val="1960"/>
              </a:lnSpc>
              <a:buNone/>
            </a:pPr>
            <a:r>
              <a:rPr lang="en-US" sz="1400" b="1" dirty="0">
                <a:solidFill>
                  <a:srgbClr val="0B1D2A"/>
                </a:solidFill>
                <a:latin typeface="Geist" pitchFamily="34" charset="0"/>
                <a:ea typeface="Geist" pitchFamily="34" charset="-122"/>
                <a:cs typeface="Geist" pitchFamily="34" charset="-120"/>
              </a:rPr>
              <a:t>Approve</a:t>
            </a:r>
            <a:endParaRPr lang="en-US" sz="1400" dirty="0"/>
          </a:p>
        </p:txBody>
      </p:sp>
      <p:sp>
        <p:nvSpPr>
          <p:cNvPr id="13" name="Shape 11"/>
          <p:cNvSpPr/>
          <p:nvPr/>
        </p:nvSpPr>
        <p:spPr>
          <a:xfrm>
            <a:off x="7848510" y="2362290"/>
            <a:ext cx="2793970" cy="3682940"/>
          </a:xfrm>
          <a:prstGeom prst="roundRect">
            <a:avLst>
              <a:gd name="adj" fmla="val 10909"/>
            </a:avLst>
          </a:prstGeom>
          <a:solidFill>
            <a:srgbClr val="EFEBE3"/>
          </a:solidFill>
          <a:ln/>
        </p:spPr>
      </p:sp>
      <p:sp>
        <p:nvSpPr>
          <p:cNvPr id="14" name="Text 12"/>
          <p:cNvSpPr/>
          <p:nvPr/>
        </p:nvSpPr>
        <p:spPr>
          <a:xfrm>
            <a:off x="8127881" y="2641659"/>
            <a:ext cx="230228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B1D2A"/>
                </a:solidFill>
                <a:latin typeface="Geist" pitchFamily="34" charset="0"/>
                <a:ea typeface="Geist" pitchFamily="34" charset="-122"/>
                <a:cs typeface="Geist" pitchFamily="34" charset="-120"/>
              </a:rPr>
              <a:t>Done</a:t>
            </a:r>
            <a:endParaRPr lang="en-US" sz="1500" dirty="0"/>
          </a:p>
        </p:txBody>
      </p:sp>
      <p:pic>
        <p:nvPicPr>
          <p:cNvPr id="15" name="Image 0" descr="Harbor mark">    </p:cNvPr>
          <p:cNvPicPr>
            <a:picLocks noChangeAspect="1"/>
          </p:cNvPicPr>
          <p:nvPr/>
        </p:nvPicPr>
        <p:blipFill>
          <a:blip r:embed="rId1"/>
          <a:srcRect l="0" r="0" t="0" b="0"/>
          <a:stretch/>
        </p:blipFill>
        <p:spPr>
          <a:xfrm>
            <a:off x="8127881" y="3422709"/>
            <a:ext cx="609600" cy="609600"/>
          </a:xfrm>
          <a:prstGeom prst="rect">
            <a:avLst/>
          </a:prstGeom>
        </p:spPr>
      </p:pic>
      <p:sp>
        <p:nvSpPr>
          <p:cNvPr id="16" name="Text 13"/>
          <p:cNvSpPr/>
          <p:nvPr/>
        </p:nvSpPr>
        <p:spPr>
          <a:xfrm>
            <a:off x="8127881" y="4133850"/>
            <a:ext cx="2514600" cy="635000"/>
          </a:xfrm>
          <a:prstGeom prst="rect">
            <a:avLst/>
          </a:prstGeom>
          <a:noFill/>
          <a:ln/>
        </p:spPr>
        <p:txBody>
          <a:bodyPr wrap="square" lIns="0" tIns="0" rIns="0" bIns="0" rtlCol="0" anchor="t">
            <a:normAutofit/>
          </a:bodyPr>
          <a:lstStyle/>
          <a:p>
            <a:pPr algn="l" indent="0" marL="0">
              <a:lnSpc>
                <a:spcPts val="4800"/>
              </a:lnSpc>
              <a:buNone/>
            </a:pPr>
            <a:r>
              <a:rPr lang="en-US" sz="4800" spc="-50" kern="0" dirty="0">
                <a:solidFill>
                  <a:srgbClr val="0B1D2A"/>
                </a:solidFill>
                <a:latin typeface="Instrument Serif" pitchFamily="18" charset="0"/>
                <a:ea typeface="Instrument Serif" pitchFamily="18" charset="-122"/>
                <a:cs typeface="Instrument Serif" pitchFamily="18" charset="-120"/>
              </a:rPr>
              <a:t>Cash ready</a:t>
            </a:r>
            <a:endParaRPr lang="en-US" sz="4800" dirty="0"/>
          </a:p>
        </p:txBody>
      </p:sp>
      <p:sp>
        <p:nvSpPr>
          <p:cNvPr id="17" name="Text 14"/>
          <p:cNvSpPr/>
          <p:nvPr/>
        </p:nvSpPr>
        <p:spPr>
          <a:xfrm>
            <a:off x="8134231" y="5264240"/>
            <a:ext cx="2222530" cy="495270"/>
          </a:xfrm>
          <a:prstGeom prst="roundRect">
            <a:avLst>
              <a:gd name="adj" fmla="val 50000"/>
            </a:avLst>
          </a:prstGeom>
          <a:noFill/>
          <a:ln w="12700">
            <a:solidFill>
              <a:srgbClr val="0B1D2A"/>
            </a:solidFill>
            <a:prstDash val="solid"/>
          </a:ln>
        </p:spPr>
        <p:txBody>
          <a:bodyPr wrap="square" lIns="30249" tIns="59622" rIns="30249" bIns="34222" rtlCol="0" anchor="t">
            <a:normAutofit/>
          </a:bodyPr>
          <a:lstStyle/>
          <a:p>
            <a:pPr algn="ctr" indent="0" marL="0">
              <a:lnSpc>
                <a:spcPts val="1820"/>
              </a:lnSpc>
              <a:buNone/>
            </a:pPr>
            <a:r>
              <a:rPr lang="en-US" sz="1300" b="1" dirty="0">
                <a:solidFill>
                  <a:srgbClr val="0B1D2A"/>
                </a:solidFill>
                <a:latin typeface="Geist" pitchFamily="34" charset="0"/>
                <a:ea typeface="Geist" pitchFamily="34" charset="-122"/>
                <a:cs typeface="Geist" pitchFamily="34" charset="-120"/>
              </a:rPr>
              <a:t>Undo after storm</a:t>
            </a:r>
            <a:endParaRPr lang="en-US" sz="1300" dirty="0"/>
          </a:p>
        </p:txBody>
      </p:sp>
      <p:pic>
        <p:nvPicPr>
          <p:cNvPr id="18" name="Image 1" descr="Harbor logo">    </p:cNvPr>
          <p:cNvPicPr>
            <a:picLocks noChangeAspect="1"/>
          </p:cNvPicPr>
          <p:nvPr/>
        </p:nvPicPr>
        <p:blipFill>
          <a:blip r:embed="rId2"/>
          <a:srcRect l="0" r="0" t="0" b="0"/>
          <a:stretch/>
        </p:blipFill>
        <p:spPr>
          <a:xfrm>
            <a:off x="812770" y="304800"/>
            <a:ext cx="253940" cy="253940"/>
          </a:xfrm>
          <a:prstGeom prst="rect">
            <a:avLst/>
          </a:prstGeom>
        </p:spPr>
      </p:pic>
      <p:sp>
        <p:nvSpPr>
          <p:cNvPr id="19" name="Text 15"/>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EFEBE3"/>
                </a:solidFill>
                <a:latin typeface="Instrument Serif" pitchFamily="18" charset="0"/>
                <a:ea typeface="Instrument Serif" pitchFamily="18" charset="-122"/>
                <a:cs typeface="Instrument Serif" pitchFamily="18" charset="-120"/>
              </a:rPr>
              <a:t>harbor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EBE3"/>
        </a:solidFill>
      </p:bgPr>
    </p:bg>
    <p:spTree>
      <p:nvGrpSpPr>
        <p:cNvPr id="1" name=""/>
        <p:cNvGrpSpPr/>
        <p:nvPr/>
      </p:nvGrpSpPr>
      <p:grpSpPr>
        <a:xfrm>
          <a:off x="0" y="0"/>
          <a:ext cx="0" cy="0"/>
          <a:chOff x="0" y="0"/>
          <a:chExt cx="0" cy="0"/>
        </a:xfrm>
      </p:grpSpPr>
      <p:sp>
        <p:nvSpPr>
          <p:cNvPr id="2" name="Text 0"/>
          <p:cNvSpPr/>
          <p:nvPr>
            <p:ph type="title"/>
          </p:nvPr>
        </p:nvSpPr>
        <p:spPr>
          <a:xfrm>
            <a:off x="812770" y="914400"/>
            <a:ext cx="10883453" cy="736630"/>
          </a:xfrm>
          <a:prstGeom prst="rect">
            <a:avLst/>
          </a:prstGeom>
          <a:noFill/>
          <a:ln/>
        </p:spPr>
        <p:txBody>
          <a:bodyPr wrap="square" lIns="0" tIns="0" rIns="0" bIns="0" rtlCol="0" anchor="t">
            <a:normAutofit/>
          </a:bodyPr>
          <a:lstStyle/>
          <a:p>
            <a:pPr algn="l" indent="0" marL="0">
              <a:lnSpc>
                <a:spcPts val="5600"/>
              </a:lnSpc>
              <a:buNone/>
            </a:pPr>
            <a:r>
              <a:rPr lang="en-US" sz="5600" b="0" i="0" spc="-100" kern="0" dirty="0">
                <a:solidFill>
                  <a:srgbClr val="0B1D2A"/>
                </a:solidFill>
                <a:latin typeface="Instrument Serif" pitchFamily="18" charset="0"/>
                <a:ea typeface="Instrument Serif" pitchFamily="18" charset="-122"/>
                <a:cs typeface="Instrument Serif" pitchFamily="18" charset="-120"/>
              </a:rPr>
              <a:t>Built for every household.</a:t>
            </a:r>
            <a:endParaRPr lang="en-US" sz="5600" dirty="0"/>
          </a:p>
        </p:txBody>
      </p:sp>
      <p:sp>
        <p:nvSpPr>
          <p:cNvPr id="3" name="Shape 1"/>
          <p:cNvSpPr/>
          <p:nvPr/>
        </p:nvSpPr>
        <p:spPr>
          <a:xfrm>
            <a:off x="812770" y="3523202"/>
            <a:ext cx="3251260" cy="0"/>
          </a:xfrm>
          <a:prstGeom prst="line">
            <a:avLst/>
          </a:prstGeom>
          <a:noFill/>
          <a:ln w="6350">
            <a:solidFill>
              <a:srgbClr val="0B1D2A"/>
            </a:solidFill>
            <a:prstDash val="solid"/>
          </a:ln>
        </p:spPr>
      </p:sp>
      <p:sp>
        <p:nvSpPr>
          <p:cNvPr id="4" name="Text 2"/>
          <p:cNvSpPr/>
          <p:nvPr/>
        </p:nvSpPr>
        <p:spPr>
          <a:xfrm>
            <a:off x="812770" y="3728948"/>
            <a:ext cx="3348798" cy="1397000"/>
          </a:xfrm>
          <a:prstGeom prst="rect">
            <a:avLst/>
          </a:prstGeom>
          <a:noFill/>
          <a:ln/>
        </p:spPr>
        <p:txBody>
          <a:bodyPr wrap="square" lIns="0" tIns="0" rIns="0" bIns="0" rtlCol="0" anchor="t">
            <a:normAutofit/>
          </a:bodyPr>
          <a:lstStyle/>
          <a:p>
            <a:pPr algn="l" indent="0" marL="0">
              <a:lnSpc>
                <a:spcPts val="10800"/>
              </a:lnSpc>
              <a:buNone/>
            </a:pPr>
            <a:r>
              <a:rPr lang="en-US" sz="12000" spc="-300" kern="0" dirty="0">
                <a:solidFill>
                  <a:srgbClr val="0B1D2A"/>
                </a:solidFill>
                <a:latin typeface="Instrument Serif" pitchFamily="18" charset="0"/>
                <a:ea typeface="Instrument Serif" pitchFamily="18" charset="-122"/>
                <a:cs typeface="Instrument Serif" pitchFamily="18" charset="-120"/>
              </a:rPr>
              <a:t>63%</a:t>
            </a:r>
            <a:endParaRPr lang="en-US" sz="12000" dirty="0"/>
          </a:p>
        </p:txBody>
      </p:sp>
      <p:sp>
        <p:nvSpPr>
          <p:cNvPr id="5" name="Text 3"/>
          <p:cNvSpPr/>
          <p:nvPr/>
        </p:nvSpPr>
        <p:spPr>
          <a:xfrm>
            <a:off x="812770" y="5202089"/>
            <a:ext cx="3348798" cy="345386"/>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B5A66"/>
                </a:solidFill>
                <a:latin typeface="Geist" pitchFamily="34" charset="0"/>
                <a:ea typeface="Geist" pitchFamily="34" charset="-122"/>
                <a:cs typeface="Geist" pitchFamily="34" charset="-120"/>
              </a:rPr>
              <a:t>have cash. We move it.</a:t>
            </a:r>
            <a:endParaRPr lang="en-US" sz="1800" dirty="0"/>
          </a:p>
        </p:txBody>
      </p:sp>
      <p:sp>
        <p:nvSpPr>
          <p:cNvPr id="6" name="Shape 4"/>
          <p:cNvSpPr/>
          <p:nvPr/>
        </p:nvSpPr>
        <p:spPr>
          <a:xfrm>
            <a:off x="4470370" y="3523202"/>
            <a:ext cx="3251260" cy="0"/>
          </a:xfrm>
          <a:prstGeom prst="line">
            <a:avLst/>
          </a:prstGeom>
          <a:noFill/>
          <a:ln w="6350">
            <a:solidFill>
              <a:srgbClr val="0B1D2A"/>
            </a:solidFill>
            <a:prstDash val="solid"/>
          </a:ln>
        </p:spPr>
      </p:sp>
      <p:sp>
        <p:nvSpPr>
          <p:cNvPr id="7" name="Text 5"/>
          <p:cNvSpPr/>
          <p:nvPr/>
        </p:nvSpPr>
        <p:spPr>
          <a:xfrm>
            <a:off x="4470370" y="3728948"/>
            <a:ext cx="3348798" cy="1397000"/>
          </a:xfrm>
          <a:prstGeom prst="rect">
            <a:avLst/>
          </a:prstGeom>
          <a:noFill/>
          <a:ln/>
        </p:spPr>
        <p:txBody>
          <a:bodyPr wrap="square" lIns="0" tIns="0" rIns="0" bIns="0" rtlCol="0" anchor="t">
            <a:normAutofit/>
          </a:bodyPr>
          <a:lstStyle/>
          <a:p>
            <a:pPr algn="l" indent="0" marL="0">
              <a:lnSpc>
                <a:spcPts val="10800"/>
              </a:lnSpc>
              <a:buNone/>
            </a:pPr>
            <a:r>
              <a:rPr lang="en-US" sz="12000" spc="-300" kern="0" dirty="0">
                <a:solidFill>
                  <a:srgbClr val="0B1D2A"/>
                </a:solidFill>
                <a:latin typeface="Instrument Serif" pitchFamily="18" charset="0"/>
                <a:ea typeface="Instrument Serif" pitchFamily="18" charset="-122"/>
                <a:cs typeface="Instrument Serif" pitchFamily="18" charset="-120"/>
              </a:rPr>
              <a:t>37%</a:t>
            </a:r>
            <a:endParaRPr lang="en-US" sz="12000" dirty="0"/>
          </a:p>
        </p:txBody>
      </p:sp>
      <p:sp>
        <p:nvSpPr>
          <p:cNvPr id="8" name="Text 6"/>
          <p:cNvSpPr/>
          <p:nvPr/>
        </p:nvSpPr>
        <p:spPr>
          <a:xfrm>
            <a:off x="4470370" y="5202089"/>
            <a:ext cx="3348798" cy="665372"/>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B5A66"/>
                </a:solidFill>
                <a:latin typeface="Geist" pitchFamily="34" charset="0"/>
                <a:ea typeface="Geist" pitchFamily="34" charset="-122"/>
                <a:cs typeface="Geist" pitchFamily="34" charset="-120"/>
              </a:rPr>
              <a:t>are stretched. We build a buffer.</a:t>
            </a:r>
            <a:endParaRPr lang="en-US" sz="1800" dirty="0"/>
          </a:p>
        </p:txBody>
      </p:sp>
      <p:sp>
        <p:nvSpPr>
          <p:cNvPr id="9" name="Shape 7"/>
          <p:cNvSpPr/>
          <p:nvPr/>
        </p:nvSpPr>
        <p:spPr>
          <a:xfrm>
            <a:off x="8127971" y="3526377"/>
            <a:ext cx="3251260" cy="0"/>
          </a:xfrm>
          <a:prstGeom prst="line">
            <a:avLst/>
          </a:prstGeom>
          <a:noFill/>
          <a:ln w="12700">
            <a:solidFill>
              <a:srgbClr val="D9431A"/>
            </a:solidFill>
            <a:prstDash val="solid"/>
          </a:ln>
        </p:spPr>
      </p:sp>
      <p:sp>
        <p:nvSpPr>
          <p:cNvPr id="10" name="Text 8"/>
          <p:cNvSpPr/>
          <p:nvPr/>
        </p:nvSpPr>
        <p:spPr>
          <a:xfrm>
            <a:off x="8127971" y="3734699"/>
            <a:ext cx="3348798" cy="1397000"/>
          </a:xfrm>
          <a:prstGeom prst="rect">
            <a:avLst/>
          </a:prstGeom>
          <a:noFill/>
          <a:ln/>
        </p:spPr>
        <p:txBody>
          <a:bodyPr wrap="square" lIns="0" tIns="0" rIns="0" bIns="0" rtlCol="0" anchor="t">
            <a:normAutofit/>
          </a:bodyPr>
          <a:lstStyle/>
          <a:p>
            <a:pPr algn="l" indent="0" marL="0">
              <a:lnSpc>
                <a:spcPts val="10800"/>
              </a:lnSpc>
              <a:buNone/>
            </a:pPr>
            <a:r>
              <a:rPr lang="en-US" sz="12000" spc="-300" kern="0" dirty="0">
                <a:solidFill>
                  <a:srgbClr val="D9431A"/>
                </a:solidFill>
                <a:latin typeface="Instrument Serif" pitchFamily="18" charset="0"/>
                <a:ea typeface="Instrument Serif" pitchFamily="18" charset="-122"/>
                <a:cs typeface="Instrument Serif" pitchFamily="18" charset="-120"/>
              </a:rPr>
              <a:t>24%</a:t>
            </a:r>
            <a:endParaRPr lang="en-US" sz="12000" dirty="0"/>
          </a:p>
        </p:txBody>
      </p:sp>
      <p:sp>
        <p:nvSpPr>
          <p:cNvPr id="11" name="Text 9"/>
          <p:cNvSpPr/>
          <p:nvPr/>
        </p:nvSpPr>
        <p:spPr>
          <a:xfrm>
            <a:off x="8127971" y="5207840"/>
            <a:ext cx="3348798" cy="345386"/>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B5A66"/>
                </a:solidFill>
                <a:latin typeface="Geist" pitchFamily="34" charset="0"/>
                <a:ea typeface="Geist" pitchFamily="34" charset="-122"/>
                <a:cs typeface="Geist" pitchFamily="34" charset="-120"/>
              </a:rPr>
              <a:t>can’t leave. We find a way out.</a:t>
            </a:r>
            <a:endParaRPr lang="en-US" sz="1800" dirty="0"/>
          </a:p>
        </p:txBody>
      </p:sp>
      <p:pic>
        <p:nvPicPr>
          <p:cNvPr id="12" name="Image 0" descr="Harbor logo">    </p:cNvPr>
          <p:cNvPicPr>
            <a:picLocks noChangeAspect="1"/>
          </p:cNvPicPr>
          <p:nvPr/>
        </p:nvPicPr>
        <p:blipFill>
          <a:blip r:embed="rId1"/>
          <a:srcRect l="0" r="0" t="0" b="0"/>
          <a:stretch/>
        </p:blipFill>
        <p:spPr>
          <a:xfrm>
            <a:off x="812770" y="304800"/>
            <a:ext cx="253940" cy="253940"/>
          </a:xfrm>
          <a:prstGeom prst="rect">
            <a:avLst/>
          </a:prstGeom>
        </p:spPr>
      </p:pic>
      <p:sp>
        <p:nvSpPr>
          <p:cNvPr id="13" name="Text 10"/>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0B1D2A"/>
                </a:solidFill>
                <a:latin typeface="Instrument Serif" pitchFamily="18" charset="0"/>
                <a:ea typeface="Instrument Serif" pitchFamily="18" charset="-122"/>
                <a:cs typeface="Instrument Serif" pitchFamily="18" charset="-120"/>
              </a:rPr>
              <a:t>harbor</a:t>
            </a:r>
            <a:endParaRPr lang="en-US" sz="2000" dirty="0"/>
          </a:p>
        </p:txBody>
      </p:sp>
      <p:sp>
        <p:nvSpPr>
          <p:cNvPr id="14" name="Text 11"/>
          <p:cNvSpPr/>
          <p:nvPr/>
        </p:nvSpPr>
        <p:spPr>
          <a:xfrm>
            <a:off x="812770" y="6238335"/>
            <a:ext cx="10883362" cy="2387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A66"/>
                </a:solidFill>
                <a:latin typeface="Geist" pitchFamily="34" charset="0"/>
                <a:ea typeface="Geist" pitchFamily="34" charset="-122"/>
                <a:cs typeface="Geist" pitchFamily="34" charset="-120"/>
              </a:rPr>
              <a:t>Groups overlap. Sources: Federal Reserve SHED 2025 · McClatchy poll, 2024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2A"/>
        </a:solidFill>
      </p:bgPr>
    </p:bg>
    <p:spTree>
      <p:nvGrpSpPr>
        <p:cNvPr id="1" name=""/>
        <p:cNvGrpSpPr/>
        <p:nvPr/>
      </p:nvGrpSpPr>
      <p:grpSpPr>
        <a:xfrm>
          <a:off x="0" y="0"/>
          <a:ext cx="0" cy="0"/>
          <a:chOff x="0" y="0"/>
          <a:chExt cx="0" cy="0"/>
        </a:xfrm>
      </p:grpSpPr>
      <p:pic>
        <p:nvPicPr>
          <p:cNvPr id="2" name="Image 0" descr="Tampa Bay seen from the International Space Station">    </p:cNvPr>
          <p:cNvPicPr>
            <a:picLocks noChangeAspect="1"/>
          </p:cNvPicPr>
          <p:nvPr/>
        </p:nvPicPr>
        <p:blipFill>
          <a:blip r:embed="rId1"/>
          <a:srcRect l="0" r="0" t="12593" b="12593"/>
          <a:stretch/>
        </p:blipFill>
        <p:spPr>
          <a:xfrm>
            <a:off x="812770" y="914400"/>
            <a:ext cx="4572000" cy="5130740"/>
          </a:xfrm>
          <a:prstGeom prst="roundRect">
            <a:avLst>
              <a:gd name="adj" fmla="val 2778"/>
            </a:avLst>
          </a:prstGeom>
        </p:spPr>
      </p:pic>
      <p:sp>
        <p:nvSpPr>
          <p:cNvPr id="3" name="Text 0"/>
          <p:cNvSpPr/>
          <p:nvPr>
            <p:ph type="title"/>
          </p:nvPr>
        </p:nvSpPr>
        <p:spPr>
          <a:xfrm>
            <a:off x="5994370" y="914400"/>
            <a:ext cx="5546406" cy="1346140"/>
          </a:xfrm>
          <a:prstGeom prst="rect">
            <a:avLst/>
          </a:prstGeom>
          <a:noFill/>
          <a:ln/>
        </p:spPr>
        <p:txBody>
          <a:bodyPr wrap="square" lIns="0" tIns="0" rIns="0" bIns="0" rtlCol="0" anchor="t">
            <a:normAutofit/>
          </a:bodyPr>
          <a:lstStyle/>
          <a:p>
            <a:pPr algn="l" indent="0" marL="0">
              <a:lnSpc>
                <a:spcPts val="5200"/>
              </a:lnSpc>
              <a:buNone/>
            </a:pPr>
            <a:r>
              <a:rPr lang="en-US" sz="5200" b="0" i="0" spc="-100" kern="0" dirty="0">
                <a:solidFill>
                  <a:srgbClr val="EFEBE3"/>
                </a:solidFill>
                <a:latin typeface="Instrument Serif" pitchFamily="18" charset="0"/>
                <a:ea typeface="Instrument Serif" pitchFamily="18" charset="-122"/>
                <a:cs typeface="Instrument Serif" pitchFamily="18" charset="-120"/>
              </a:rPr>
              <a:t>No money? </a:t>
            </a:r>
            <a:r>
              <a:rPr lang="en-US" sz="5200" b="0" i="1" spc="-100" kern="0" dirty="0">
                <a:solidFill>
                  <a:srgbClr val="FF5B2E"/>
                </a:solidFill>
                <a:latin typeface="Instrument Serif" pitchFamily="18" charset="0"/>
                <a:ea typeface="Instrument Serif" pitchFamily="18" charset="-122"/>
                <a:cs typeface="Instrument Serif" pitchFamily="18" charset="-120"/>
              </a:rPr>
              <a:t>A free way out.</a:t>
            </a:r>
            <a:endParaRPr lang="en-US" sz="5200" dirty="0"/>
          </a:p>
        </p:txBody>
      </p:sp>
      <p:sp>
        <p:nvSpPr>
          <p:cNvPr id="4" name="Shape 1"/>
          <p:cNvSpPr/>
          <p:nvPr/>
        </p:nvSpPr>
        <p:spPr>
          <a:xfrm>
            <a:off x="5994370" y="3181201"/>
            <a:ext cx="5384860" cy="0"/>
          </a:xfrm>
          <a:prstGeom prst="line">
            <a:avLst/>
          </a:prstGeom>
          <a:noFill/>
          <a:ln w="6350">
            <a:solidFill>
              <a:srgbClr val="3A5266"/>
            </a:solidFill>
            <a:prstDash val="solid"/>
          </a:ln>
        </p:spPr>
      </p:sp>
      <p:sp>
        <p:nvSpPr>
          <p:cNvPr id="5" name="Text 2"/>
          <p:cNvSpPr/>
          <p:nvPr/>
        </p:nvSpPr>
        <p:spPr>
          <a:xfrm>
            <a:off x="5994370" y="3361577"/>
            <a:ext cx="5546406" cy="38085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Free buses</a:t>
            </a:r>
            <a:endParaRPr lang="en-US" sz="2800" dirty="0"/>
          </a:p>
        </p:txBody>
      </p:sp>
      <p:sp>
        <p:nvSpPr>
          <p:cNvPr id="6" name="Shape 3"/>
          <p:cNvSpPr/>
          <p:nvPr/>
        </p:nvSpPr>
        <p:spPr>
          <a:xfrm>
            <a:off x="5994370" y="3898001"/>
            <a:ext cx="5384860" cy="0"/>
          </a:xfrm>
          <a:prstGeom prst="line">
            <a:avLst/>
          </a:prstGeom>
          <a:noFill/>
          <a:ln w="6350">
            <a:solidFill>
              <a:srgbClr val="3A5266"/>
            </a:solidFill>
            <a:prstDash val="solid"/>
          </a:ln>
        </p:spPr>
      </p:sp>
      <p:sp>
        <p:nvSpPr>
          <p:cNvPr id="7" name="Text 4"/>
          <p:cNvSpPr/>
          <p:nvPr/>
        </p:nvSpPr>
        <p:spPr>
          <a:xfrm>
            <a:off x="5994370" y="4078377"/>
            <a:ext cx="5546406" cy="38085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Pet friendly shelters</a:t>
            </a:r>
            <a:endParaRPr lang="en-US" sz="2800" dirty="0"/>
          </a:p>
        </p:txBody>
      </p:sp>
      <p:sp>
        <p:nvSpPr>
          <p:cNvPr id="8" name="Shape 5"/>
          <p:cNvSpPr/>
          <p:nvPr/>
        </p:nvSpPr>
        <p:spPr>
          <a:xfrm>
            <a:off x="5994370" y="4614804"/>
            <a:ext cx="5384860" cy="0"/>
          </a:xfrm>
          <a:prstGeom prst="line">
            <a:avLst/>
          </a:prstGeom>
          <a:noFill/>
          <a:ln w="6350">
            <a:solidFill>
              <a:srgbClr val="3A5266"/>
            </a:solidFill>
            <a:prstDash val="solid"/>
          </a:ln>
        </p:spPr>
      </p:sp>
      <p:sp>
        <p:nvSpPr>
          <p:cNvPr id="9" name="Text 6"/>
          <p:cNvSpPr/>
          <p:nvPr/>
        </p:nvSpPr>
        <p:spPr>
          <a:xfrm>
            <a:off x="5994370" y="4795180"/>
            <a:ext cx="5546406" cy="38085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Family fund</a:t>
            </a:r>
            <a:endParaRPr lang="en-US" sz="2800" dirty="0"/>
          </a:p>
        </p:txBody>
      </p:sp>
      <p:sp>
        <p:nvSpPr>
          <p:cNvPr id="10" name="Shape 7"/>
          <p:cNvSpPr/>
          <p:nvPr/>
        </p:nvSpPr>
        <p:spPr>
          <a:xfrm>
            <a:off x="5994370" y="5331603"/>
            <a:ext cx="5384860" cy="0"/>
          </a:xfrm>
          <a:prstGeom prst="line">
            <a:avLst/>
          </a:prstGeom>
          <a:noFill/>
          <a:ln w="6350">
            <a:solidFill>
              <a:srgbClr val="3A5266"/>
            </a:solidFill>
            <a:prstDash val="solid"/>
          </a:ln>
        </p:spPr>
      </p:sp>
      <p:sp>
        <p:nvSpPr>
          <p:cNvPr id="11" name="Text 8"/>
          <p:cNvSpPr/>
          <p:nvPr/>
        </p:nvSpPr>
        <p:spPr>
          <a:xfrm>
            <a:off x="5994370" y="5511979"/>
            <a:ext cx="5546406" cy="38085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FEMA aid</a:t>
            </a:r>
            <a:endParaRPr lang="en-US" sz="2800" dirty="0"/>
          </a:p>
        </p:txBody>
      </p:sp>
      <p:pic>
        <p:nvPicPr>
          <p:cNvPr id="12" name="Image 1" descr="Harbor logo">    </p:cNvPr>
          <p:cNvPicPr>
            <a:picLocks noChangeAspect="1"/>
          </p:cNvPicPr>
          <p:nvPr/>
        </p:nvPicPr>
        <p:blipFill>
          <a:blip r:embed="rId2"/>
          <a:srcRect l="0" r="0" t="0" b="0"/>
          <a:stretch/>
        </p:blipFill>
        <p:spPr>
          <a:xfrm>
            <a:off x="812770" y="304800"/>
            <a:ext cx="253940" cy="253940"/>
          </a:xfrm>
          <a:prstGeom prst="rect">
            <a:avLst/>
          </a:prstGeom>
        </p:spPr>
      </p:pic>
      <p:sp>
        <p:nvSpPr>
          <p:cNvPr id="13" name="Text 9"/>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EFEBE3"/>
                </a:solidFill>
                <a:latin typeface="Instrument Serif" pitchFamily="18" charset="0"/>
                <a:ea typeface="Instrument Serif" pitchFamily="18" charset="-122"/>
                <a:cs typeface="Instrument Serif" pitchFamily="18" charset="-120"/>
              </a:rPr>
              <a:t>harbor</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D2A"/>
        </a:solidFill>
      </p:bgPr>
    </p:bg>
    <p:spTree>
      <p:nvGrpSpPr>
        <p:cNvPr id="1" name=""/>
        <p:cNvGrpSpPr/>
        <p:nvPr/>
      </p:nvGrpSpPr>
      <p:grpSpPr>
        <a:xfrm>
          <a:off x="0" y="0"/>
          <a:ext cx="0" cy="0"/>
          <a:chOff x="0" y="0"/>
          <a:chExt cx="0" cy="0"/>
        </a:xfrm>
      </p:grpSpPr>
      <p:sp>
        <p:nvSpPr>
          <p:cNvPr id="2" name="Text 0"/>
          <p:cNvSpPr/>
          <p:nvPr>
            <p:ph type="title"/>
          </p:nvPr>
        </p:nvSpPr>
        <p:spPr>
          <a:xfrm>
            <a:off x="812770" y="914400"/>
            <a:ext cx="10883453" cy="736630"/>
          </a:xfrm>
          <a:prstGeom prst="rect">
            <a:avLst/>
          </a:prstGeom>
          <a:noFill/>
          <a:ln/>
        </p:spPr>
        <p:txBody>
          <a:bodyPr wrap="square" lIns="0" tIns="0" rIns="0" bIns="0" rtlCol="0" anchor="t">
            <a:normAutofit/>
          </a:bodyPr>
          <a:lstStyle/>
          <a:p>
            <a:pPr algn="l" indent="0" marL="0">
              <a:lnSpc>
                <a:spcPts val="5600"/>
              </a:lnSpc>
              <a:buNone/>
            </a:pPr>
            <a:r>
              <a:rPr lang="en-US" sz="5600" b="0" i="0" spc="-100" kern="0" dirty="0">
                <a:solidFill>
                  <a:srgbClr val="EFEBE3"/>
                </a:solidFill>
                <a:latin typeface="Instrument Serif" pitchFamily="18" charset="0"/>
                <a:ea typeface="Instrument Serif" pitchFamily="18" charset="-122"/>
                <a:cs typeface="Instrument Serif" pitchFamily="18" charset="-120"/>
              </a:rPr>
              <a:t>Everyone else shows up </a:t>
            </a:r>
            <a:r>
              <a:rPr lang="en-US" sz="5600" b="0" i="1" spc="-100" kern="0" dirty="0">
                <a:solidFill>
                  <a:srgbClr val="FF5B2E"/>
                </a:solidFill>
                <a:latin typeface="Instrument Serif" pitchFamily="18" charset="0"/>
                <a:ea typeface="Instrument Serif" pitchFamily="18" charset="-122"/>
                <a:cs typeface="Instrument Serif" pitchFamily="18" charset="-120"/>
              </a:rPr>
              <a:t>after.</a:t>
            </a:r>
            <a:endParaRPr lang="en-US" sz="5600" dirty="0"/>
          </a:p>
        </p:txBody>
      </p:sp>
      <p:sp>
        <p:nvSpPr>
          <p:cNvPr id="3" name="Text 1"/>
          <p:cNvSpPr/>
          <p:nvPr/>
        </p:nvSpPr>
        <p:spPr>
          <a:xfrm>
            <a:off x="761970" y="3424058"/>
            <a:ext cx="1701770" cy="274308"/>
          </a:xfrm>
          <a:prstGeom prst="rect">
            <a:avLst/>
          </a:prstGeom>
          <a:noFill/>
          <a:ln/>
        </p:spPr>
        <p:txBody>
          <a:bodyPr wrap="square" lIns="0" tIns="0" rIns="0" bIns="0" rtlCol="0" anchor="t">
            <a:normAutofit/>
          </a:bodyPr>
          <a:lstStyle/>
          <a:p>
            <a:pPr algn="r" indent="0" marL="0">
              <a:lnSpc>
                <a:spcPts val="1960"/>
              </a:lnSpc>
              <a:buNone/>
            </a:pPr>
            <a:r>
              <a:rPr lang="en-US" sz="1400" dirty="0">
                <a:solidFill>
                  <a:srgbClr val="A9B8C4"/>
                </a:solidFill>
                <a:latin typeface="Geist" pitchFamily="34" charset="0"/>
                <a:ea typeface="Geist" pitchFamily="34" charset="-122"/>
                <a:cs typeface="Geist" pitchFamily="34" charset="-120"/>
              </a:rPr>
              <a:t>Automatic</a:t>
            </a:r>
            <a:endParaRPr lang="en-US" sz="1400" dirty="0"/>
          </a:p>
        </p:txBody>
      </p:sp>
      <p:sp>
        <p:nvSpPr>
          <p:cNvPr id="4" name="Text 2"/>
          <p:cNvSpPr/>
          <p:nvPr/>
        </p:nvSpPr>
        <p:spPr>
          <a:xfrm>
            <a:off x="2543115" y="2853218"/>
            <a:ext cx="4375150" cy="1390590"/>
          </a:xfrm>
          <a:prstGeom prst="roundRect">
            <a:avLst>
              <a:gd name="adj" fmla="val 8904"/>
            </a:avLst>
          </a:prstGeom>
          <a:noFill/>
          <a:ln w="6350">
            <a:solidFill>
              <a:srgbClr val="2C445A"/>
            </a:solidFill>
            <a:prstDash val="solid"/>
          </a:ln>
        </p:spPr>
        <p:txBody>
          <a:bodyPr wrap="square" lIns="0" tIns="0" rIns="0" bIns="0" rtlCol="0" anchor="ctr">
            <a:normAutofit/>
          </a:bodyPr>
          <a:lstStyle/>
          <a:p>
            <a:pPr algn="ctr"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Insurance</a:t>
            </a:r>
            <a:endParaRPr lang="en-US" sz="2800" dirty="0"/>
          </a:p>
        </p:txBody>
      </p:sp>
      <p:sp>
        <p:nvSpPr>
          <p:cNvPr id="5" name="Text 3"/>
          <p:cNvSpPr/>
          <p:nvPr/>
        </p:nvSpPr>
        <p:spPr>
          <a:xfrm>
            <a:off x="6997640" y="2850043"/>
            <a:ext cx="4381590" cy="1396940"/>
          </a:xfrm>
          <a:prstGeom prst="roundRect">
            <a:avLst>
              <a:gd name="adj" fmla="val 9091"/>
            </a:avLst>
          </a:prstGeom>
          <a:solidFill>
            <a:srgbClr val="FF5B2E"/>
          </a:solidFill>
          <a:ln/>
        </p:spPr>
        <p:txBody>
          <a:bodyPr wrap="square" lIns="0" tIns="0" rIns="0" bIns="0" rtlCol="0" anchor="ctr">
            <a:normAutofit/>
          </a:bodyPr>
          <a:lstStyle/>
          <a:p>
            <a:pPr algn="ctr" indent="0" marL="0">
              <a:lnSpc>
                <a:spcPts val="4800"/>
              </a:lnSpc>
              <a:buNone/>
            </a:pPr>
            <a:r>
              <a:rPr lang="en-US" sz="4800" dirty="0">
                <a:solidFill>
                  <a:srgbClr val="0B1D2A"/>
                </a:solidFill>
                <a:latin typeface="Instrument Serif" pitchFamily="18" charset="0"/>
                <a:ea typeface="Instrument Serif" pitchFamily="18" charset="-122"/>
                <a:cs typeface="Instrument Serif" pitchFamily="18" charset="-120"/>
              </a:rPr>
              <a:t>harbor</a:t>
            </a:r>
            <a:endParaRPr lang="en-US" sz="4800" dirty="0"/>
          </a:p>
        </p:txBody>
      </p:sp>
      <p:sp>
        <p:nvSpPr>
          <p:cNvPr id="6" name="Text 4"/>
          <p:cNvSpPr/>
          <p:nvPr/>
        </p:nvSpPr>
        <p:spPr>
          <a:xfrm>
            <a:off x="761970" y="4897196"/>
            <a:ext cx="1701770" cy="274308"/>
          </a:xfrm>
          <a:prstGeom prst="rect">
            <a:avLst/>
          </a:prstGeom>
          <a:noFill/>
          <a:ln/>
        </p:spPr>
        <p:txBody>
          <a:bodyPr wrap="square" lIns="0" tIns="0" rIns="0" bIns="0" rtlCol="0" anchor="t">
            <a:normAutofit/>
          </a:bodyPr>
          <a:lstStyle/>
          <a:p>
            <a:pPr algn="r" indent="0" marL="0">
              <a:lnSpc>
                <a:spcPts val="1960"/>
              </a:lnSpc>
              <a:buNone/>
            </a:pPr>
            <a:r>
              <a:rPr lang="en-US" sz="1400" dirty="0">
                <a:solidFill>
                  <a:srgbClr val="A9B8C4"/>
                </a:solidFill>
                <a:latin typeface="Geist" pitchFamily="34" charset="0"/>
                <a:ea typeface="Geist" pitchFamily="34" charset="-122"/>
                <a:cs typeface="Geist" pitchFamily="34" charset="-120"/>
              </a:rPr>
              <a:t>Manual</a:t>
            </a:r>
            <a:endParaRPr lang="en-US" sz="1400" dirty="0"/>
          </a:p>
        </p:txBody>
      </p:sp>
      <p:sp>
        <p:nvSpPr>
          <p:cNvPr id="7" name="Text 5"/>
          <p:cNvSpPr/>
          <p:nvPr/>
        </p:nvSpPr>
        <p:spPr>
          <a:xfrm>
            <a:off x="2543115" y="4326359"/>
            <a:ext cx="4375150" cy="1390590"/>
          </a:xfrm>
          <a:prstGeom prst="roundRect">
            <a:avLst>
              <a:gd name="adj" fmla="val 8904"/>
            </a:avLst>
          </a:prstGeom>
          <a:noFill/>
          <a:ln w="6350">
            <a:solidFill>
              <a:srgbClr val="2C445A"/>
            </a:solidFill>
            <a:prstDash val="solid"/>
          </a:ln>
        </p:spPr>
        <p:txBody>
          <a:bodyPr wrap="square" lIns="0" tIns="0" rIns="0" bIns="0" rtlCol="0" anchor="ctr">
            <a:normAutofit/>
          </a:bodyPr>
          <a:lstStyle/>
          <a:p>
            <a:pPr algn="ctr"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FEMA aid</a:t>
            </a:r>
            <a:endParaRPr lang="en-US" sz="2800" dirty="0"/>
          </a:p>
        </p:txBody>
      </p:sp>
      <p:sp>
        <p:nvSpPr>
          <p:cNvPr id="8" name="Text 6"/>
          <p:cNvSpPr/>
          <p:nvPr/>
        </p:nvSpPr>
        <p:spPr>
          <a:xfrm>
            <a:off x="7000815" y="4326359"/>
            <a:ext cx="4375240" cy="1390590"/>
          </a:xfrm>
          <a:prstGeom prst="roundRect">
            <a:avLst>
              <a:gd name="adj" fmla="val 8904"/>
            </a:avLst>
          </a:prstGeom>
          <a:noFill/>
          <a:ln w="6350">
            <a:solidFill>
              <a:srgbClr val="2C445A"/>
            </a:solidFill>
            <a:prstDash val="solid"/>
          </a:ln>
        </p:spPr>
        <p:txBody>
          <a:bodyPr wrap="square" lIns="0" tIns="0" rIns="0" bIns="0" rtlCol="0" anchor="ctr">
            <a:normAutofit/>
          </a:bodyPr>
          <a:lstStyle/>
          <a:p>
            <a:pPr algn="ctr" indent="0" marL="0">
              <a:lnSpc>
                <a:spcPts val="2800"/>
              </a:lnSpc>
              <a:buNone/>
            </a:pPr>
            <a:r>
              <a:rPr lang="en-US" sz="2800" dirty="0">
                <a:solidFill>
                  <a:srgbClr val="EFEBE3"/>
                </a:solidFill>
                <a:latin typeface="Instrument Serif" pitchFamily="18" charset="0"/>
                <a:ea typeface="Instrument Serif" pitchFamily="18" charset="-122"/>
                <a:cs typeface="Instrument Serif" pitchFamily="18" charset="-120"/>
              </a:rPr>
              <a:t>Bank tips</a:t>
            </a:r>
            <a:endParaRPr lang="en-US" sz="2800" dirty="0"/>
          </a:p>
        </p:txBody>
      </p:sp>
      <p:sp>
        <p:nvSpPr>
          <p:cNvPr id="9" name="Text 7"/>
          <p:cNvSpPr/>
          <p:nvPr/>
        </p:nvSpPr>
        <p:spPr>
          <a:xfrm>
            <a:off x="787370" y="5796322"/>
            <a:ext cx="1701770" cy="274308"/>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A9B8C4"/>
                </a:solidFill>
                <a:latin typeface="Geist" pitchFamily="34" charset="0"/>
                <a:ea typeface="Geist" pitchFamily="34" charset="-122"/>
                <a:cs typeface="Geist" pitchFamily="34" charset="-120"/>
              </a:rPr>
              <a:t>After the storm</a:t>
            </a:r>
            <a:endParaRPr lang="en-US" sz="1400" dirty="0"/>
          </a:p>
        </p:txBody>
      </p:sp>
      <p:sp>
        <p:nvSpPr>
          <p:cNvPr id="10" name="Text 8"/>
          <p:cNvSpPr/>
          <p:nvPr/>
        </p:nvSpPr>
        <p:spPr>
          <a:xfrm>
            <a:off x="2474218" y="5796322"/>
            <a:ext cx="4512945" cy="274308"/>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FF5B2E"/>
                </a:solidFill>
                <a:latin typeface="Geist" pitchFamily="34" charset="0"/>
                <a:ea typeface="Geist" pitchFamily="34" charset="-122"/>
                <a:cs typeface="Geist" pitchFamily="34" charset="-120"/>
              </a:rPr>
              <a:t>Before landfall</a:t>
            </a:r>
            <a:endParaRPr lang="en-US" sz="1400" dirty="0"/>
          </a:p>
        </p:txBody>
      </p:sp>
      <p:pic>
        <p:nvPicPr>
          <p:cNvPr id="11" name="Image 0" descr="Harbor logo">    </p:cNvPr>
          <p:cNvPicPr>
            <a:picLocks noChangeAspect="1"/>
          </p:cNvPicPr>
          <p:nvPr/>
        </p:nvPicPr>
        <p:blipFill>
          <a:blip r:embed="rId1"/>
          <a:srcRect l="0" r="0" t="0" b="0"/>
          <a:stretch/>
        </p:blipFill>
        <p:spPr>
          <a:xfrm>
            <a:off x="812770" y="304800"/>
            <a:ext cx="253940" cy="253940"/>
          </a:xfrm>
          <a:prstGeom prst="rect">
            <a:avLst/>
          </a:prstGeom>
        </p:spPr>
      </p:pic>
      <p:sp>
        <p:nvSpPr>
          <p:cNvPr id="12" name="Text 9"/>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EFEBE3"/>
                </a:solidFill>
                <a:latin typeface="Instrument Serif" pitchFamily="18" charset="0"/>
                <a:ea typeface="Instrument Serif" pitchFamily="18" charset="-122"/>
                <a:cs typeface="Instrument Serif" pitchFamily="18" charset="-120"/>
              </a:rPr>
              <a:t>harbor</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D2A"/>
        </a:solidFill>
      </p:bgPr>
    </p:bg>
    <p:spTree>
      <p:nvGrpSpPr>
        <p:cNvPr id="1" name=""/>
        <p:cNvGrpSpPr/>
        <p:nvPr/>
      </p:nvGrpSpPr>
      <p:grpSpPr>
        <a:xfrm>
          <a:off x="0" y="0"/>
          <a:ext cx="0" cy="0"/>
          <a:chOff x="0" y="0"/>
          <a:chExt cx="0" cy="0"/>
        </a:xfrm>
      </p:grpSpPr>
      <p:pic>
        <p:nvPicPr>
          <p:cNvPr id="2" name="Image 0" descr="Hurricane Ian covering Florida and the Southeast coast, seen by the GOES satellite">    </p:cNvPr>
          <p:cNvPicPr>
            <a:picLocks noChangeAspect="1"/>
          </p:cNvPicPr>
          <p:nvPr/>
        </p:nvPicPr>
        <p:blipFill>
          <a:blip r:embed="rId1"/>
          <a:srcRect l="0" r="0" t="0" b="0"/>
          <a:stretch/>
        </p:blipFill>
        <p:spPr>
          <a:xfrm>
            <a:off x="0" y="0"/>
            <a:ext cx="12192000" cy="6858000"/>
          </a:xfrm>
          <a:prstGeom prst="rect">
            <a:avLst/>
          </a:prstGeom>
        </p:spPr>
      </p:pic>
      <p:sp>
        <p:nvSpPr>
          <p:cNvPr id="3" name="Shape 0"/>
          <p:cNvSpPr/>
          <p:nvPr/>
        </p:nvSpPr>
        <p:spPr>
          <a:xfrm>
            <a:off x="0" y="0"/>
            <a:ext cx="12192000" cy="6858000"/>
          </a:xfrm>
          <a:prstGeom prst="rect">
            <a:avLst/>
          </a:prstGeom>
          <a:gradFill rotWithShape="1">
            <a:gsLst>
              <a:gs pos="0">
                <a:srgbClr val="0B1D2A">
                  <a:alpha val="60000"/>
                </a:srgbClr>
              </a:gs>
              <a:gs pos="55000">
                <a:srgbClr val="0B1D2A">
                  <a:alpha val="84000"/>
                </a:srgbClr>
              </a:gs>
              <a:gs pos="100000">
                <a:srgbClr val="0B1D2A">
                  <a:alpha val="96000"/>
                </a:srgbClr>
              </a:gs>
            </a:gsLst>
            <a:lin ang="5400000" scaled="0"/>
          </a:gradFill>
          <a:ln/>
        </p:spPr>
      </p:sp>
      <p:sp>
        <p:nvSpPr>
          <p:cNvPr id="4" name="Text 1"/>
          <p:cNvSpPr/>
          <p:nvPr>
            <p:ph type="title"/>
          </p:nvPr>
        </p:nvSpPr>
        <p:spPr>
          <a:xfrm>
            <a:off x="812770" y="914400"/>
            <a:ext cx="10883453" cy="736630"/>
          </a:xfrm>
          <a:prstGeom prst="rect">
            <a:avLst/>
          </a:prstGeom>
          <a:noFill/>
          <a:ln/>
        </p:spPr>
        <p:txBody>
          <a:bodyPr wrap="square" lIns="0" tIns="0" rIns="0" bIns="0" rtlCol="0" anchor="t">
            <a:normAutofit/>
          </a:bodyPr>
          <a:lstStyle/>
          <a:p>
            <a:pPr algn="l" indent="0" marL="0">
              <a:lnSpc>
                <a:spcPts val="5600"/>
              </a:lnSpc>
              <a:buNone/>
            </a:pPr>
            <a:r>
              <a:rPr lang="en-US" sz="5600" b="0" i="0" spc="-100" kern="0" dirty="0">
                <a:solidFill>
                  <a:srgbClr val="EFEBE3"/>
                </a:solidFill>
                <a:latin typeface="Instrument Serif" pitchFamily="18" charset="0"/>
                <a:ea typeface="Instrument Serif" pitchFamily="18" charset="-122"/>
                <a:cs typeface="Instrument Serif" pitchFamily="18" charset="-120"/>
              </a:rPr>
              <a:t>60M people in the path.</a:t>
            </a:r>
            <a:endParaRPr lang="en-US" sz="5600" dirty="0"/>
          </a:p>
        </p:txBody>
      </p:sp>
      <p:sp>
        <p:nvSpPr>
          <p:cNvPr id="5" name="Shape 2"/>
          <p:cNvSpPr/>
          <p:nvPr/>
        </p:nvSpPr>
        <p:spPr>
          <a:xfrm>
            <a:off x="812770" y="4233627"/>
            <a:ext cx="3251260" cy="0"/>
          </a:xfrm>
          <a:prstGeom prst="line">
            <a:avLst/>
          </a:prstGeom>
          <a:noFill/>
          <a:ln w="6350">
            <a:solidFill>
              <a:srgbClr val="3A5266"/>
            </a:solidFill>
            <a:prstDash val="solid"/>
          </a:ln>
        </p:spPr>
      </p:sp>
      <p:sp>
        <p:nvSpPr>
          <p:cNvPr id="6" name="Text 3"/>
          <p:cNvSpPr/>
          <p:nvPr/>
        </p:nvSpPr>
        <p:spPr>
          <a:xfrm>
            <a:off x="812770" y="4439369"/>
            <a:ext cx="3348798" cy="1054100"/>
          </a:xfrm>
          <a:prstGeom prst="rect">
            <a:avLst/>
          </a:prstGeom>
          <a:noFill/>
          <a:ln/>
        </p:spPr>
        <p:txBody>
          <a:bodyPr wrap="square" lIns="0" tIns="0" rIns="0" bIns="0" rtlCol="0" anchor="t">
            <a:normAutofit/>
          </a:bodyPr>
          <a:lstStyle/>
          <a:p>
            <a:pPr algn="l" indent="0" marL="0">
              <a:lnSpc>
                <a:spcPts val="8100"/>
              </a:lnSpc>
              <a:buNone/>
            </a:pPr>
            <a:r>
              <a:rPr lang="en-US" sz="9000" spc="-250" kern="0" dirty="0">
                <a:solidFill>
                  <a:srgbClr val="EFEBE3"/>
                </a:solidFill>
                <a:latin typeface="Instrument Serif" pitchFamily="18" charset="0"/>
                <a:ea typeface="Instrument Serif" pitchFamily="18" charset="-122"/>
                <a:cs typeface="Instrument Serif" pitchFamily="18" charset="-120"/>
              </a:rPr>
              <a:t>$720M</a:t>
            </a:r>
            <a:endParaRPr lang="en-US" sz="9000" dirty="0"/>
          </a:p>
        </p:txBody>
      </p:sp>
      <p:sp>
        <p:nvSpPr>
          <p:cNvPr id="7" name="Text 4"/>
          <p:cNvSpPr/>
          <p:nvPr/>
        </p:nvSpPr>
        <p:spPr>
          <a:xfrm>
            <a:off x="812770" y="5569607"/>
            <a:ext cx="334879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8C4"/>
                </a:solidFill>
                <a:latin typeface="Geist" pitchFamily="34" charset="0"/>
                <a:ea typeface="Geist" pitchFamily="34" charset="-122"/>
                <a:cs typeface="Geist" pitchFamily="34" charset="-120"/>
              </a:rPr>
              <a:t>TAM · coastal residents</a:t>
            </a:r>
            <a:endParaRPr lang="en-US" sz="1500" dirty="0"/>
          </a:p>
        </p:txBody>
      </p:sp>
      <p:sp>
        <p:nvSpPr>
          <p:cNvPr id="8" name="Shape 5"/>
          <p:cNvSpPr/>
          <p:nvPr/>
        </p:nvSpPr>
        <p:spPr>
          <a:xfrm>
            <a:off x="4470370" y="4233627"/>
            <a:ext cx="3251260" cy="0"/>
          </a:xfrm>
          <a:prstGeom prst="line">
            <a:avLst/>
          </a:prstGeom>
          <a:noFill/>
          <a:ln w="6350">
            <a:solidFill>
              <a:srgbClr val="3A5266"/>
            </a:solidFill>
            <a:prstDash val="solid"/>
          </a:ln>
        </p:spPr>
      </p:sp>
      <p:sp>
        <p:nvSpPr>
          <p:cNvPr id="9" name="Text 6"/>
          <p:cNvSpPr/>
          <p:nvPr/>
        </p:nvSpPr>
        <p:spPr>
          <a:xfrm>
            <a:off x="4470370" y="4439369"/>
            <a:ext cx="3348798" cy="1054100"/>
          </a:xfrm>
          <a:prstGeom prst="rect">
            <a:avLst/>
          </a:prstGeom>
          <a:noFill/>
          <a:ln/>
        </p:spPr>
        <p:txBody>
          <a:bodyPr wrap="square" lIns="0" tIns="0" rIns="0" bIns="0" rtlCol="0" anchor="t">
            <a:normAutofit/>
          </a:bodyPr>
          <a:lstStyle/>
          <a:p>
            <a:pPr algn="l" indent="0" marL="0">
              <a:lnSpc>
                <a:spcPts val="8100"/>
              </a:lnSpc>
              <a:buNone/>
            </a:pPr>
            <a:r>
              <a:rPr lang="en-US" sz="9000" spc="-250" kern="0" dirty="0">
                <a:solidFill>
                  <a:srgbClr val="EFEBE3"/>
                </a:solidFill>
                <a:latin typeface="Instrument Serif" pitchFamily="18" charset="0"/>
                <a:ea typeface="Instrument Serif" pitchFamily="18" charset="-122"/>
                <a:cs typeface="Instrument Serif" pitchFamily="18" charset="-120"/>
              </a:rPr>
              <a:t>$41M</a:t>
            </a:r>
            <a:endParaRPr lang="en-US" sz="9000" dirty="0"/>
          </a:p>
        </p:txBody>
      </p:sp>
      <p:sp>
        <p:nvSpPr>
          <p:cNvPr id="10" name="Text 7"/>
          <p:cNvSpPr/>
          <p:nvPr/>
        </p:nvSpPr>
        <p:spPr>
          <a:xfrm>
            <a:off x="4470370" y="5569607"/>
            <a:ext cx="334879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8C4"/>
                </a:solidFill>
                <a:latin typeface="Geist" pitchFamily="34" charset="0"/>
                <a:ea typeface="Geist" pitchFamily="34" charset="-122"/>
                <a:cs typeface="Geist" pitchFamily="34" charset="-120"/>
              </a:rPr>
              <a:t>SAM · displaced each year</a:t>
            </a:r>
            <a:endParaRPr lang="en-US" sz="1500" dirty="0"/>
          </a:p>
        </p:txBody>
      </p:sp>
      <p:sp>
        <p:nvSpPr>
          <p:cNvPr id="11" name="Shape 8"/>
          <p:cNvSpPr/>
          <p:nvPr/>
        </p:nvSpPr>
        <p:spPr>
          <a:xfrm>
            <a:off x="8127971" y="4236802"/>
            <a:ext cx="3251260" cy="0"/>
          </a:xfrm>
          <a:prstGeom prst="line">
            <a:avLst/>
          </a:prstGeom>
          <a:noFill/>
          <a:ln w="12700">
            <a:solidFill>
              <a:srgbClr val="FF5B2E"/>
            </a:solidFill>
            <a:prstDash val="solid"/>
          </a:ln>
        </p:spPr>
      </p:sp>
      <p:sp>
        <p:nvSpPr>
          <p:cNvPr id="12" name="Text 9"/>
          <p:cNvSpPr/>
          <p:nvPr/>
        </p:nvSpPr>
        <p:spPr>
          <a:xfrm>
            <a:off x="8127971" y="4445118"/>
            <a:ext cx="3348798" cy="1054100"/>
          </a:xfrm>
          <a:prstGeom prst="rect">
            <a:avLst/>
          </a:prstGeom>
          <a:noFill/>
          <a:ln/>
        </p:spPr>
        <p:txBody>
          <a:bodyPr wrap="square" lIns="0" tIns="0" rIns="0" bIns="0" rtlCol="0" anchor="t">
            <a:normAutofit/>
          </a:bodyPr>
          <a:lstStyle/>
          <a:p>
            <a:pPr algn="l" indent="0" marL="0">
              <a:lnSpc>
                <a:spcPts val="8100"/>
              </a:lnSpc>
              <a:buNone/>
            </a:pPr>
            <a:r>
              <a:rPr lang="en-US" sz="9000" spc="-250" kern="0" dirty="0">
                <a:solidFill>
                  <a:srgbClr val="FF5B2E"/>
                </a:solidFill>
                <a:latin typeface="Instrument Serif" pitchFamily="18" charset="0"/>
                <a:ea typeface="Instrument Serif" pitchFamily="18" charset="-122"/>
                <a:cs typeface="Instrument Serif" pitchFamily="18" charset="-120"/>
              </a:rPr>
              <a:t>$12M</a:t>
            </a:r>
            <a:endParaRPr lang="en-US" sz="9000" dirty="0"/>
          </a:p>
        </p:txBody>
      </p:sp>
      <p:sp>
        <p:nvSpPr>
          <p:cNvPr id="13" name="Text 10"/>
          <p:cNvSpPr/>
          <p:nvPr/>
        </p:nvSpPr>
        <p:spPr>
          <a:xfrm>
            <a:off x="8127971" y="5575362"/>
            <a:ext cx="334879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8C4"/>
                </a:solidFill>
                <a:latin typeface="Geist" pitchFamily="34" charset="0"/>
                <a:ea typeface="Geist" pitchFamily="34" charset="-122"/>
                <a:cs typeface="Geist" pitchFamily="34" charset="-120"/>
              </a:rPr>
              <a:t>SOM · one bank partner</a:t>
            </a:r>
            <a:endParaRPr lang="en-US" sz="1500" dirty="0"/>
          </a:p>
        </p:txBody>
      </p:sp>
      <p:pic>
        <p:nvPicPr>
          <p:cNvPr id="14" name="Image 1" descr="Harbor logo">    </p:cNvPr>
          <p:cNvPicPr>
            <a:picLocks noChangeAspect="1"/>
          </p:cNvPicPr>
          <p:nvPr/>
        </p:nvPicPr>
        <p:blipFill>
          <a:blip r:embed="rId2"/>
          <a:srcRect l="0" r="0" t="0" b="0"/>
          <a:stretch/>
        </p:blipFill>
        <p:spPr>
          <a:xfrm>
            <a:off x="812770" y="304800"/>
            <a:ext cx="253940" cy="253940"/>
          </a:xfrm>
          <a:prstGeom prst="rect">
            <a:avLst/>
          </a:prstGeom>
        </p:spPr>
      </p:pic>
      <p:sp>
        <p:nvSpPr>
          <p:cNvPr id="15" name="Text 11"/>
          <p:cNvSpPr/>
          <p:nvPr/>
        </p:nvSpPr>
        <p:spPr>
          <a:xfrm>
            <a:off x="1155580" y="304800"/>
            <a:ext cx="718041" cy="279430"/>
          </a:xfrm>
          <a:prstGeom prst="rect">
            <a:avLst/>
          </a:prstGeom>
          <a:noFill/>
          <a:ln/>
        </p:spPr>
        <p:txBody>
          <a:bodyPr wrap="square" lIns="0" tIns="0" rIns="0" bIns="0" rtlCol="0" anchor="t">
            <a:normAutofit/>
          </a:bodyPr>
          <a:lstStyle/>
          <a:p>
            <a:pPr algn="l" indent="0" marL="0">
              <a:lnSpc>
                <a:spcPts val="2000"/>
              </a:lnSpc>
              <a:buNone/>
            </a:pPr>
            <a:r>
              <a:rPr lang="en-US" sz="2000" dirty="0">
                <a:solidFill>
                  <a:srgbClr val="EFEBE3"/>
                </a:solidFill>
                <a:latin typeface="Instrument Serif" pitchFamily="18" charset="0"/>
                <a:ea typeface="Instrument Serif" pitchFamily="18" charset="-122"/>
                <a:cs typeface="Instrument Serif" pitchFamily="18" charset="-120"/>
              </a:rPr>
              <a:t>harbor</a:t>
            </a:r>
            <a:endParaRPr lang="en-US" sz="2000" dirty="0"/>
          </a:p>
        </p:txBody>
      </p:sp>
      <p:sp>
        <p:nvSpPr>
          <p:cNvPr id="16" name="Text 12"/>
          <p:cNvSpPr/>
          <p:nvPr/>
        </p:nvSpPr>
        <p:spPr>
          <a:xfrm>
            <a:off x="812770" y="6238335"/>
            <a:ext cx="10883362" cy="2387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8C4"/>
                </a:solidFill>
                <a:latin typeface="Geist" pitchFamily="34" charset="0"/>
                <a:ea typeface="Geist" pitchFamily="34" charset="-122"/>
                <a:cs typeface="Geist" pitchFamily="34" charset="-120"/>
              </a:rPr>
              <a:t>Harbor estimates at $1 per customer per month, paid by banks · US Census 2017, 2022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D2A"/>
        </a:solidFill>
      </p:bgPr>
    </p:bg>
    <p:spTree>
      <p:nvGrpSpPr>
        <p:cNvPr id="1" name=""/>
        <p:cNvGrpSpPr/>
        <p:nvPr/>
      </p:nvGrpSpPr>
      <p:grpSpPr>
        <a:xfrm>
          <a:off x="0" y="0"/>
          <a:ext cx="0" cy="0"/>
          <a:chOff x="0" y="0"/>
          <a:chExt cx="0" cy="0"/>
        </a:xfrm>
      </p:grpSpPr>
      <p:pic>
        <p:nvPicPr>
          <p:cNvPr id="2" name="Image 0" descr="Florida’s Gulf Coast waters after Hurricane Helene, seen by satellite">    </p:cNvPr>
          <p:cNvPicPr>
            <a:picLocks noChangeAspect="1"/>
          </p:cNvPicPr>
          <p:nvPr/>
        </p:nvPicPr>
        <p:blipFill>
          <a:blip r:embed="rId1"/>
          <a:srcRect l="0" r="0" t="18840" b="18840"/>
          <a:stretch/>
        </p:blipFill>
        <p:spPr>
          <a:xfrm>
            <a:off x="0" y="0"/>
            <a:ext cx="12192000" cy="6858000"/>
          </a:xfrm>
          <a:prstGeom prst="rect">
            <a:avLst/>
          </a:prstGeom>
        </p:spPr>
      </p:pic>
      <p:sp>
        <p:nvSpPr>
          <p:cNvPr id="3" name="Shape 0"/>
          <p:cNvSpPr/>
          <p:nvPr/>
        </p:nvSpPr>
        <p:spPr>
          <a:xfrm>
            <a:off x="0" y="0"/>
            <a:ext cx="12192000" cy="6858000"/>
          </a:xfrm>
          <a:prstGeom prst="rect">
            <a:avLst/>
          </a:prstGeom>
          <a:gradFill rotWithShape="1">
            <a:gsLst>
              <a:gs pos="0">
                <a:srgbClr val="0B1D2A">
                  <a:alpha val="92000"/>
                </a:srgbClr>
              </a:gs>
              <a:gs pos="55000">
                <a:srgbClr val="0B1D2A">
                  <a:alpha val="60000"/>
                </a:srgbClr>
              </a:gs>
              <a:gs pos="100000">
                <a:srgbClr val="0B1D2A">
                  <a:alpha val="20000"/>
                </a:srgbClr>
              </a:gs>
            </a:gsLst>
            <a:lin ang="0" scaled="0"/>
          </a:gradFill>
          <a:ln/>
        </p:spPr>
      </p:sp>
      <p:pic>
        <p:nvPicPr>
          <p:cNvPr id="4" name="Image 1" descr="Harbor logo">    </p:cNvPr>
          <p:cNvPicPr>
            <a:picLocks noChangeAspect="1"/>
          </p:cNvPicPr>
          <p:nvPr/>
        </p:nvPicPr>
        <p:blipFill>
          <a:blip r:embed="rId2"/>
          <a:srcRect l="0" r="0" t="0" b="0"/>
          <a:stretch/>
        </p:blipFill>
        <p:spPr>
          <a:xfrm>
            <a:off x="812770" y="812769"/>
            <a:ext cx="406340" cy="406340"/>
          </a:xfrm>
          <a:prstGeom prst="rect">
            <a:avLst/>
          </a:prstGeom>
        </p:spPr>
      </p:pic>
      <p:sp>
        <p:nvSpPr>
          <p:cNvPr id="5" name="Text 1"/>
          <p:cNvSpPr/>
          <p:nvPr/>
        </p:nvSpPr>
        <p:spPr>
          <a:xfrm>
            <a:off x="1346080" y="812769"/>
            <a:ext cx="1148931" cy="431830"/>
          </a:xfrm>
          <a:prstGeom prst="rect">
            <a:avLst/>
          </a:prstGeom>
          <a:noFill/>
          <a:ln/>
        </p:spPr>
        <p:txBody>
          <a:bodyPr wrap="square" lIns="0" tIns="0" rIns="0" bIns="0" rtlCol="0" anchor="t">
            <a:normAutofit/>
          </a:bodyPr>
          <a:lstStyle/>
          <a:p>
            <a:pPr algn="l" indent="0" marL="0">
              <a:lnSpc>
                <a:spcPts val="3200"/>
              </a:lnSpc>
              <a:buNone/>
            </a:pPr>
            <a:r>
              <a:rPr lang="en-US" sz="3200" dirty="0">
                <a:solidFill>
                  <a:srgbClr val="EFEBE3"/>
                </a:solidFill>
                <a:latin typeface="Instrument Serif" pitchFamily="18" charset="0"/>
                <a:ea typeface="Instrument Serif" pitchFamily="18" charset="-122"/>
                <a:cs typeface="Instrument Serif" pitchFamily="18" charset="-120"/>
              </a:rPr>
              <a:t>harbor</a:t>
            </a:r>
            <a:endParaRPr lang="en-US" sz="3200" dirty="0"/>
          </a:p>
        </p:txBody>
      </p:sp>
      <p:sp>
        <p:nvSpPr>
          <p:cNvPr id="6" name="Text 2"/>
          <p:cNvSpPr/>
          <p:nvPr>
            <p:ph type="title"/>
          </p:nvPr>
        </p:nvSpPr>
        <p:spPr>
          <a:xfrm>
            <a:off x="812770" y="2627734"/>
            <a:ext cx="8502589" cy="1714380"/>
          </a:xfrm>
          <a:prstGeom prst="rect">
            <a:avLst/>
          </a:prstGeom>
          <a:noFill/>
          <a:ln/>
        </p:spPr>
        <p:txBody>
          <a:bodyPr wrap="square" lIns="0" tIns="0" rIns="0" bIns="0" rtlCol="0" anchor="t">
            <a:normAutofit/>
          </a:bodyPr>
          <a:lstStyle/>
          <a:p>
            <a:pPr algn="l" indent="0" marL="0">
              <a:lnSpc>
                <a:spcPts val="6650"/>
              </a:lnSpc>
              <a:buNone/>
            </a:pPr>
            <a:r>
              <a:rPr lang="en-US" sz="7000" b="0" i="0" spc="-150" kern="0" dirty="0">
                <a:solidFill>
                  <a:srgbClr val="EFEBE3"/>
                </a:solidFill>
                <a:latin typeface="Instrument Serif" pitchFamily="18" charset="0"/>
                <a:ea typeface="Instrument Serif" pitchFamily="18" charset="-122"/>
                <a:cs typeface="Instrument Serif" pitchFamily="18" charset="-120"/>
              </a:rPr>
              <a:t>Five days of warning. </a:t>
            </a:r>
            <a:r>
              <a:rPr lang="en-US" sz="7000" b="0" i="1" spc="-150" kern="0" dirty="0">
                <a:solidFill>
                  <a:srgbClr val="FF5B2E"/>
                </a:solidFill>
                <a:latin typeface="Instrument Serif" pitchFamily="18" charset="0"/>
                <a:ea typeface="Instrument Serif" pitchFamily="18" charset="-122"/>
                <a:cs typeface="Instrument Serif" pitchFamily="18" charset="-120"/>
              </a:rPr>
              <a:t>Harbor makes them count.</a:t>
            </a:r>
            <a:endParaRPr lang="en-US" sz="7000" dirty="0"/>
          </a:p>
        </p:txBody>
      </p:sp>
      <p:sp>
        <p:nvSpPr>
          <p:cNvPr id="7" name="Text 3"/>
          <p:cNvSpPr/>
          <p:nvPr/>
        </p:nvSpPr>
        <p:spPr>
          <a:xfrm>
            <a:off x="812770" y="5725244"/>
            <a:ext cx="10883453" cy="345386"/>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EFEBE3"/>
                </a:solidFill>
                <a:latin typeface="Geist" pitchFamily="34" charset="0"/>
                <a:ea typeface="Geist" pitchFamily="34" charset="-122"/>
                <a:cs typeface="Geist" pitchFamily="34" charset="-120"/>
              </a:rPr>
              <a:t>Next: a pilot with one Gulf Coast bank before the 2027 season.</a:t>
            </a:r>
            <a:endParaRPr lang="en-US" sz="1800" dirty="0"/>
          </a:p>
        </p:txBody>
      </p:sp>
      <p:sp>
        <p:nvSpPr>
          <p:cNvPr id="8" name="Text 4"/>
          <p:cNvSpPr/>
          <p:nvPr/>
        </p:nvSpPr>
        <p:spPr>
          <a:xfrm>
            <a:off x="7454930" y="6238335"/>
            <a:ext cx="3924300" cy="23872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B8C4"/>
                </a:solidFill>
                <a:latin typeface="Geist" pitchFamily="34" charset="0"/>
                <a:ea typeface="Geist" pitchFamily="34" charset="-122"/>
                <a:cs typeface="Geist" pitchFamily="34" charset="-120"/>
              </a:rPr>
              <a:t>Images: NASA Earth Observatory</a:t>
            </a:r>
            <a:endParaRPr lang="en-US" sz="1200" dirty="0"/>
          </a:p>
        </p:txBody>
      </p:sp>
    </p:spTree>
  </p:cSld>
  <p:clrMapOvr>
    <a:masterClrMapping/>
  </p:clrMapOvr>
</p:sld>
</file>

<file path=ppt/theme/theme1.xml><?xml version="1.0" encoding="utf-8"?>
<a:theme xmlns:a="http://schemas.openxmlformats.org/drawingml/2006/main" name="Harbor">
  <a:themeElements>
    <a:clrScheme name="Harbor">
      <a:dk1>
        <a:srgbClr val="0B1D2A"/>
      </a:dk1>
      <a:lt1>
        <a:srgbClr val="EFEBE3"/>
      </a:lt1>
      <a:dk2>
        <a:srgbClr val="22323D"/>
      </a:dk2>
      <a:lt2>
        <a:srgbClr val="B6B8B5"/>
      </a:lt2>
      <a:accent1>
        <a:srgbClr val="FF5B2E"/>
      </a:accent1>
      <a:accent2>
        <a:srgbClr val="D9431A"/>
      </a:accent2>
      <a:accent3>
        <a:srgbClr val="A9B8C4"/>
      </a:accent3>
      <a:accent4>
        <a:srgbClr val="4B5A66"/>
      </a:accent4>
      <a:accent5>
        <a:srgbClr val="9AA0A6"/>
      </a:accent5>
      <a:accent6>
        <a:srgbClr val="949999"/>
      </a:accent6>
      <a:hlink>
        <a:srgbClr val="0563C1"/>
      </a:hlink>
      <a:folHlink>
        <a:srgbClr val="954F72"/>
      </a:folHlink>
    </a:clrScheme>
    <a:fontScheme name="Harbor">
      <a:majorFont>
        <a:latin typeface="Instrument Serif"/>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erif"/>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Harbor</dc:title>
  <dc:subject/>
  <dc:creator/>
  <cp:lastModifiedBy/>
  <cp:revision>1</cp:revision>
  <dcterms:created xsi:type="dcterms:W3CDTF">2026-10-16T17:31:12Z</dcterms:created>
  <dcterms:modified xsi:type="dcterms:W3CDTF">2026-10-16T17:31:12Z</dcterms:modified>
</cp:coreProperties>
</file>